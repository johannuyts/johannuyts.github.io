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6" r:id="rId2"/>
    <p:sldMasterId id="2147483677" r:id="rId3"/>
  </p:sldMasterIdLst>
  <p:notesMasterIdLst>
    <p:notesMasterId r:id="rId19"/>
  </p:notesMasterIdLst>
  <p:handoutMasterIdLst>
    <p:handoutMasterId r:id="rId20"/>
  </p:handoutMasterIdLst>
  <p:sldIdLst>
    <p:sldId id="256" r:id="rId4"/>
    <p:sldId id="258" r:id="rId5"/>
    <p:sldId id="267" r:id="rId6"/>
    <p:sldId id="268" r:id="rId7"/>
    <p:sldId id="269" r:id="rId8"/>
    <p:sldId id="270" r:id="rId9"/>
    <p:sldId id="272" r:id="rId10"/>
    <p:sldId id="271" r:id="rId11"/>
    <p:sldId id="273" r:id="rId12"/>
    <p:sldId id="274" r:id="rId13"/>
    <p:sldId id="259" r:id="rId14"/>
    <p:sldId id="266" r:id="rId15"/>
    <p:sldId id="260" r:id="rId16"/>
    <p:sldId id="264" r:id="rId17"/>
    <p:sldId id="275" r:id="rId18"/>
  </p:sldIdLst>
  <p:sldSz cx="9144000" cy="6858000" type="screen4x3"/>
  <p:notesSz cx="6669088" cy="9928225"/>
  <p:defaultTextStyle>
    <a:defPPr>
      <a:defRPr lang="nl-NL"/>
    </a:defPPr>
    <a:lvl1pPr algn="l" rtl="0" fontAlgn="base">
      <a:spcBef>
        <a:spcPct val="20000"/>
      </a:spcBef>
      <a:spcAft>
        <a:spcPct val="0"/>
      </a:spcAft>
      <a:defRPr sz="2400" kern="1200">
        <a:solidFill>
          <a:schemeClr val="bg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20000"/>
      </a:spcBef>
      <a:spcAft>
        <a:spcPct val="0"/>
      </a:spcAft>
      <a:defRPr sz="2400" kern="1200">
        <a:solidFill>
          <a:schemeClr val="bg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20000"/>
      </a:spcBef>
      <a:spcAft>
        <a:spcPct val="0"/>
      </a:spcAft>
      <a:defRPr sz="2400" kern="1200">
        <a:solidFill>
          <a:schemeClr val="bg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20000"/>
      </a:spcBef>
      <a:spcAft>
        <a:spcPct val="0"/>
      </a:spcAft>
      <a:defRPr sz="2400" kern="1200">
        <a:solidFill>
          <a:schemeClr val="bg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20000"/>
      </a:spcBef>
      <a:spcAft>
        <a:spcPct val="0"/>
      </a:spcAft>
      <a:defRPr sz="2400" kern="1200">
        <a:solidFill>
          <a:schemeClr val="bg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92D050"/>
    <a:srgbClr val="00AEEF"/>
    <a:srgbClr val="182B52"/>
    <a:srgbClr val="158CAF"/>
    <a:srgbClr val="005E77"/>
    <a:srgbClr val="036E8A"/>
    <a:srgbClr val="E68247"/>
    <a:srgbClr val="EE2B74"/>
    <a:srgbClr val="0000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914" autoAdjust="0"/>
    <p:restoredTop sz="94636" autoAdjust="0"/>
  </p:normalViewPr>
  <p:slideViewPr>
    <p:cSldViewPr snapToGrid="0" snapToObjects="1">
      <p:cViewPr varScale="1">
        <p:scale>
          <a:sx n="92" d="100"/>
          <a:sy n="92" d="100"/>
        </p:scale>
        <p:origin x="-660" y="-108"/>
      </p:cViewPr>
      <p:guideLst>
        <p:guide orient="horz" pos="2160"/>
        <p:guide pos="54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4" d="100"/>
          <a:sy n="54" d="100"/>
        </p:scale>
        <p:origin x="-1234" y="-91"/>
      </p:cViewPr>
      <p:guideLst>
        <p:guide orient="horz" pos="3126"/>
        <p:guide pos="210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665" cy="496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endParaRPr lang="nl-NL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6866" y="0"/>
            <a:ext cx="2890665" cy="496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endParaRPr lang="nl-NL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671"/>
            <a:ext cx="2890665" cy="496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endParaRPr lang="nl-NL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6866" y="9429671"/>
            <a:ext cx="2890665" cy="496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fld id="{1CC70E4E-F2BC-4CF7-8C00-BA7058749E4D}" type="slidenum">
              <a:rPr lang="nl-NL"/>
              <a:pPr/>
              <a:t>‹nr.›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665" cy="496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endParaRPr lang="nl-NL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6866" y="0"/>
            <a:ext cx="2890665" cy="496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endParaRPr lang="nl-NL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4075" y="744538"/>
            <a:ext cx="4960938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598" y="4715629"/>
            <a:ext cx="5335893" cy="4467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de opmaakprofielen van de modeltekst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671"/>
            <a:ext cx="2890665" cy="496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endParaRPr lang="nl-NL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6866" y="9429671"/>
            <a:ext cx="2890665" cy="496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fld id="{5145B24A-332F-4237-8263-AF9B3DB6BD9D}" type="slidenum">
              <a:rPr lang="nl-NL"/>
              <a:pPr/>
              <a:t>‹nr.›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7" name="Text Box 15"/>
          <p:cNvSpPr txBox="1">
            <a:spLocks noChangeArrowheads="1"/>
          </p:cNvSpPr>
          <p:nvPr/>
        </p:nvSpPr>
        <p:spPr bwMode="auto">
          <a:xfrm>
            <a:off x="0" y="836613"/>
            <a:ext cx="9177338" cy="6021387"/>
          </a:xfrm>
          <a:prstGeom prst="rect">
            <a:avLst/>
          </a:prstGeom>
          <a:gradFill rotWithShape="1">
            <a:gsLst>
              <a:gs pos="0">
                <a:srgbClr val="158CAF"/>
              </a:gs>
              <a:gs pos="100000">
                <a:srgbClr val="158CAF">
                  <a:gamma/>
                  <a:shade val="46275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spcBef>
                <a:spcPct val="50000"/>
              </a:spcBef>
            </a:pPr>
            <a:endParaRPr lang="nl-BE" sz="1800">
              <a:solidFill>
                <a:schemeClr val="tx1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238500" y="2159000"/>
            <a:ext cx="5399088" cy="3240000"/>
          </a:xfrm>
        </p:spPr>
        <p:txBody>
          <a:bodyPr anchor="t" anchorCtr="0"/>
          <a:lstStyle>
            <a:lvl1pPr>
              <a:defRPr sz="4000" baseline="0"/>
            </a:lvl1pPr>
          </a:lstStyle>
          <a:p>
            <a:r>
              <a:rPr lang="nl-NL" dirty="0" smtClean="0"/>
              <a:t>Klik en typ de titel</a:t>
            </a:r>
            <a:endParaRPr lang="nl-NL" dirty="0"/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0" y="0"/>
            <a:ext cx="9144000" cy="841375"/>
          </a:xfrm>
          <a:prstGeom prst="rect">
            <a:avLst/>
          </a:prstGeom>
          <a:solidFill>
            <a:schemeClr val="bg1"/>
          </a:solidFill>
          <a:ln w="0">
            <a:solidFill>
              <a:schemeClr val="tx1">
                <a:alpha val="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</a:pPr>
            <a:endParaRPr lang="nl-BE">
              <a:solidFill>
                <a:srgbClr val="000E21"/>
              </a:solidFill>
            </a:endParaRPr>
          </a:p>
        </p:txBody>
      </p:sp>
      <p:sp>
        <p:nvSpPr>
          <p:cNvPr id="3085" name="Text Box 13"/>
          <p:cNvSpPr txBox="1">
            <a:spLocks noChangeArrowheads="1"/>
          </p:cNvSpPr>
          <p:nvPr/>
        </p:nvSpPr>
        <p:spPr bwMode="auto">
          <a:xfrm>
            <a:off x="0" y="539750"/>
            <a:ext cx="9177338" cy="633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endParaRPr lang="nl-BE" sz="1800">
              <a:solidFill>
                <a:schemeClr val="tx1"/>
              </a:solidFill>
            </a:endParaRPr>
          </a:p>
        </p:txBody>
      </p:sp>
      <p:pic>
        <p:nvPicPr>
          <p:cNvPr id="3081" name="Picture 9" descr="KULLOGO_RGB 1CM_PS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838201"/>
            <a:ext cx="2195736" cy="733786"/>
          </a:xfrm>
          <a:prstGeom prst="rect">
            <a:avLst/>
          </a:prstGeom>
          <a:noFill/>
        </p:spPr>
      </p:pic>
      <p:sp>
        <p:nvSpPr>
          <p:cNvPr id="3092" name="Rectangle 20"/>
          <p:cNvSpPr>
            <a:spLocks noGrp="1" noChangeArrowheads="1"/>
          </p:cNvSpPr>
          <p:nvPr>
            <p:ph type="dt" sz="quarter" idx="2"/>
          </p:nvPr>
        </p:nvSpPr>
        <p:spPr>
          <a:xfrm>
            <a:off x="3238500" y="6372000"/>
            <a:ext cx="1260000" cy="360000"/>
          </a:xfrm>
        </p:spPr>
        <p:txBody>
          <a:bodyPr lIns="0" tIns="0" rIns="0" bIns="0"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60000" y="6372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fld id="{C4FACEF4-391F-4B62-9848-645FF7ECE283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13" name="Tijdelijke aanduiding voor voettekst 3"/>
          <p:cNvSpPr>
            <a:spLocks noGrp="1"/>
          </p:cNvSpPr>
          <p:nvPr>
            <p:ph type="ftr" sz="quarter" idx="11"/>
          </p:nvPr>
        </p:nvSpPr>
        <p:spPr>
          <a:xfrm>
            <a:off x="4680000" y="6372000"/>
            <a:ext cx="2772000" cy="3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pic>
        <p:nvPicPr>
          <p:cNvPr id="14" name="Picture 159" descr="sie_logo_petrol_rgb_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88038" y="836712"/>
            <a:ext cx="2155962" cy="432048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 smtClean="0"/>
              <a:t>Klik en typ de titel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rgbClr val="182B52"/>
                </a:solidFill>
              </a:defRPr>
            </a:lvl1pPr>
            <a:lvl2pPr>
              <a:defRPr>
                <a:solidFill>
                  <a:srgbClr val="182B52"/>
                </a:solidFill>
              </a:defRPr>
            </a:lvl2pPr>
            <a:lvl3pPr>
              <a:defRPr>
                <a:solidFill>
                  <a:srgbClr val="182B52"/>
                </a:solidFill>
              </a:defRPr>
            </a:lvl3pPr>
            <a:lvl4pPr>
              <a:defRPr>
                <a:solidFill>
                  <a:srgbClr val="182B52"/>
                </a:solidFill>
              </a:defRPr>
            </a:lvl4pPr>
            <a:lvl5pPr>
              <a:defRPr>
                <a:solidFill>
                  <a:srgbClr val="182B52"/>
                </a:solidFill>
              </a:defRPr>
            </a:lvl5pPr>
          </a:lstStyle>
          <a:p>
            <a:pPr lvl="0"/>
            <a:r>
              <a:rPr lang="nl-NL" dirty="0" smtClean="0"/>
              <a:t>Klik en typ de tekst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BE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CD8E6A-08C9-49B9-A7D5-27A98AD8C28F}" type="slidenum">
              <a:rPr lang="nl-NL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20000" y="4320000"/>
            <a:ext cx="7920000" cy="1440000"/>
          </a:xfrm>
        </p:spPr>
        <p:txBody>
          <a:bodyPr anchor="t"/>
          <a:lstStyle>
            <a:lvl1pPr algn="l">
              <a:defRPr sz="3600" b="1" cap="all">
                <a:solidFill>
                  <a:srgbClr val="182B52"/>
                </a:solidFill>
              </a:defRPr>
            </a:lvl1pPr>
          </a:lstStyle>
          <a:p>
            <a:r>
              <a:rPr lang="nl-NL" dirty="0" smtClean="0"/>
              <a:t>Klik en typ de tekst</a:t>
            </a:r>
            <a:endParaRPr lang="nl-BE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 hasCustomPrompt="1"/>
          </p:nvPr>
        </p:nvSpPr>
        <p:spPr>
          <a:xfrm>
            <a:off x="720000" y="2880000"/>
            <a:ext cx="7920000" cy="1440000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182B5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 dirty="0" smtClean="0"/>
              <a:t>Klik en typ de tekst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EEFFD1-DFB2-4CEF-BBC9-E2EBFFEDE494}" type="slidenum">
              <a:rPr lang="nl-NL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nl-NL" dirty="0" smtClean="0"/>
              <a:t>Klik en typ de titel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 hasCustomPrompt="1"/>
          </p:nvPr>
        </p:nvSpPr>
        <p:spPr>
          <a:xfrm>
            <a:off x="719139" y="1258888"/>
            <a:ext cx="3852862" cy="46783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Klik en typ de tekst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BE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 hasCustomPrompt="1"/>
          </p:nvPr>
        </p:nvSpPr>
        <p:spPr>
          <a:xfrm>
            <a:off x="4786314" y="1285860"/>
            <a:ext cx="3852000" cy="46783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Klik en typ de tekst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BE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574D-8DFA-4EB5-BF30-236E4224952D}" type="slidenum">
              <a:rPr lang="nl-NL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 hasCustomPrompt="1"/>
          </p:nvPr>
        </p:nvSpPr>
        <p:spPr>
          <a:xfrm>
            <a:off x="720000" y="1535113"/>
            <a:ext cx="3780000" cy="639762"/>
          </a:xfrm>
        </p:spPr>
        <p:txBody>
          <a:bodyPr anchor="ctr" anchorCtr="0"/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Klik en typ de subtitel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 hasCustomPrompt="1"/>
          </p:nvPr>
        </p:nvSpPr>
        <p:spPr>
          <a:xfrm>
            <a:off x="720000" y="2160000"/>
            <a:ext cx="3780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Klik en typ de tekst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BE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Klik en typ de subtitel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306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Klik en typ de tekst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BE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0E3400-3D55-4C98-8673-F1D0A3CCBB71}" type="slidenum">
              <a:rPr lang="nl-NL"/>
              <a:pPr/>
              <a:t>‹nr.›</a:t>
            </a:fld>
            <a:endParaRPr lang="nl-NL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719138" y="0"/>
            <a:ext cx="7920000" cy="1079500"/>
          </a:xfrm>
        </p:spPr>
        <p:txBody>
          <a:bodyPr/>
          <a:lstStyle>
            <a:lvl1pPr>
              <a:defRPr/>
            </a:lvl1pPr>
          </a:lstStyle>
          <a:p>
            <a:r>
              <a:rPr lang="nl-NL" dirty="0" smtClean="0"/>
              <a:t>Klik en typ de titel</a:t>
            </a:r>
            <a:endParaRPr lang="nl-B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19138" y="0"/>
            <a:ext cx="7920000" cy="1079500"/>
          </a:xfrm>
        </p:spPr>
        <p:txBody>
          <a:bodyPr/>
          <a:lstStyle>
            <a:lvl1pPr>
              <a:defRPr/>
            </a:lvl1pPr>
          </a:lstStyle>
          <a:p>
            <a:r>
              <a:rPr lang="nl-NL" dirty="0" smtClean="0"/>
              <a:t>Klik en typ de titel</a:t>
            </a:r>
            <a:endParaRPr lang="nl-BE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6D4B0D-69E4-4D7A-AC5D-1C592BA07710}" type="slidenum">
              <a:rPr lang="nl-NL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rgbClr val="182B52"/>
                </a:solidFill>
              </a:defRPr>
            </a:lvl1pPr>
          </a:lstStyle>
          <a:p>
            <a:r>
              <a:rPr lang="nl-NL" dirty="0" smtClean="0"/>
              <a:t>Klik en typ de tekst</a:t>
            </a:r>
            <a:endParaRPr lang="nl-BE" dirty="0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1071545"/>
            <a:ext cx="5486400" cy="3656029"/>
          </a:xfrm>
        </p:spPr>
        <p:txBody>
          <a:bodyPr/>
          <a:lstStyle>
            <a:lvl1pPr marL="0" indent="0">
              <a:buNone/>
              <a:defRPr sz="3200">
                <a:solidFill>
                  <a:srgbClr val="182B5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 smtClean="0"/>
              <a:t>Klik op het pictogram als u een afbeelding wilt toevoegen</a:t>
            </a:r>
            <a:endParaRPr lang="nl-BE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600">
                <a:solidFill>
                  <a:srgbClr val="182B5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 smtClean="0"/>
              <a:t>Klik en typ de tekst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82B5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636126-567D-4CD7-91ED-A4E7D28FA743}" type="slidenum">
              <a:rPr lang="nl-NL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Klik om de stijl te bewerken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170F3-97A2-46CA-9513-0AABCA275CBE}" type="slidenum">
              <a:rPr lang="nl-BE" smtClean="0"/>
              <a:pPr/>
              <a:t>‹nr.›</a:t>
            </a:fld>
            <a:endParaRPr lang="nl-BE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9138" y="6372000"/>
            <a:ext cx="18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rgbClr val="182B52"/>
                </a:solidFill>
              </a:defRPr>
            </a:lvl1pPr>
          </a:lstStyle>
          <a:p>
            <a:endParaRPr lang="nl-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20000" y="4320000"/>
            <a:ext cx="7920000" cy="1362075"/>
          </a:xfrm>
        </p:spPr>
        <p:txBody>
          <a:bodyPr anchor="t">
            <a:noAutofit/>
          </a:bodyPr>
          <a:lstStyle>
            <a:lvl1pPr algn="l">
              <a:defRPr sz="3600" b="1" cap="all" baseline="0">
                <a:solidFill>
                  <a:srgbClr val="182B52"/>
                </a:solidFill>
              </a:defRPr>
            </a:lvl1pPr>
          </a:lstStyle>
          <a:p>
            <a:r>
              <a:rPr lang="nl-NL" dirty="0" smtClean="0"/>
              <a:t>Klik en typ de tekst</a:t>
            </a:r>
            <a:endParaRPr lang="nl-BE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 hasCustomPrompt="1"/>
          </p:nvPr>
        </p:nvSpPr>
        <p:spPr>
          <a:xfrm>
            <a:off x="720000" y="2880000"/>
            <a:ext cx="7920000" cy="1440000"/>
          </a:xfrm>
        </p:spPr>
        <p:txBody>
          <a:bodyPr anchor="b">
            <a:noAutofit/>
          </a:bodyPr>
          <a:lstStyle>
            <a:lvl1pPr marL="0" indent="0">
              <a:buNone/>
              <a:defRPr sz="2000">
                <a:solidFill>
                  <a:srgbClr val="182B5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 smtClean="0"/>
              <a:t>Klik en typ de tekst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170F3-97A2-46CA-9513-0AABCA275CBE}" type="slidenum">
              <a:rPr lang="nl-BE" smtClean="0"/>
              <a:pPr/>
              <a:t>‹nr.›</a:t>
            </a:fld>
            <a:endParaRPr lang="nl-BE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9138" y="6372000"/>
            <a:ext cx="18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rgbClr val="182B52"/>
                </a:solidFill>
              </a:defRPr>
            </a:lvl1pPr>
          </a:lstStyle>
          <a:p>
            <a:endParaRPr lang="nl-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 smtClean="0"/>
              <a:t>Klik en typ de titel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 hasCustomPrompt="1"/>
          </p:nvPr>
        </p:nvSpPr>
        <p:spPr>
          <a:xfrm>
            <a:off x="720000" y="1600200"/>
            <a:ext cx="37800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Klik en typ de tekst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BE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 hasCustomPrompt="1"/>
          </p:nvPr>
        </p:nvSpPr>
        <p:spPr>
          <a:xfrm>
            <a:off x="4860000" y="1600200"/>
            <a:ext cx="37800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Klik en typ de tekst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BE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170F3-97A2-46CA-9513-0AABCA275CBE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3"/>
          </p:nvPr>
        </p:nvSpPr>
        <p:spPr bwMode="auto">
          <a:xfrm>
            <a:off x="719138" y="6372000"/>
            <a:ext cx="18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rgbClr val="182B52"/>
                </a:solidFill>
              </a:defRPr>
            </a:lvl1pPr>
          </a:lstStyle>
          <a:p>
            <a:endParaRPr lang="nl-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 smtClean="0"/>
              <a:t>Klik en typ de titel</a:t>
            </a:r>
            <a:endParaRPr lang="nl-BE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 hasCustomPrompt="1"/>
          </p:nvPr>
        </p:nvSpPr>
        <p:spPr>
          <a:xfrm>
            <a:off x="720000" y="1535113"/>
            <a:ext cx="3780562" cy="63976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Klik en typ de subtitel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 hasCustomPrompt="1"/>
          </p:nvPr>
        </p:nvSpPr>
        <p:spPr>
          <a:xfrm>
            <a:off x="720000" y="2174875"/>
            <a:ext cx="3780000" cy="39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Klik en typ de tekst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BE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 hasCustomPrompt="1"/>
          </p:nvPr>
        </p:nvSpPr>
        <p:spPr>
          <a:xfrm>
            <a:off x="4860000" y="1535113"/>
            <a:ext cx="3780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Klik en typ de subtitel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 hasCustomPrompt="1"/>
          </p:nvPr>
        </p:nvSpPr>
        <p:spPr>
          <a:xfrm>
            <a:off x="4860000" y="2174875"/>
            <a:ext cx="3780000" cy="3960000"/>
          </a:xfrm>
        </p:spPr>
        <p:txBody>
          <a:bodyPr/>
          <a:lstStyle>
            <a:lvl1pPr>
              <a:defRPr sz="2400" baseline="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Klik en typ de tekst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BE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170F3-97A2-46CA-9513-0AABCA275CBE}" type="slidenum">
              <a:rPr lang="nl-BE" smtClean="0"/>
              <a:pPr/>
              <a:t>‹nr.›</a:t>
            </a:fld>
            <a:endParaRPr lang="nl-BE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13"/>
          </p:nvPr>
        </p:nvSpPr>
        <p:spPr bwMode="auto">
          <a:xfrm>
            <a:off x="719138" y="6372000"/>
            <a:ext cx="18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rgbClr val="182B52"/>
                </a:solidFill>
              </a:defRPr>
            </a:lvl1pPr>
          </a:lstStyle>
          <a:p>
            <a:endParaRPr lang="nl-NL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nl-NL" dirty="0" smtClean="0"/>
              <a:t>Klik en typ de titel</a:t>
            </a:r>
            <a:endParaRPr lang="nl-BE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170F3-97A2-46CA-9513-0AABCA275CBE}" type="slidenum">
              <a:rPr lang="nl-BE" smtClean="0"/>
              <a:pPr/>
              <a:t>‹nr.›</a:t>
            </a:fld>
            <a:endParaRPr lang="nl-BE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9138" y="6372000"/>
            <a:ext cx="18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rgbClr val="182B52"/>
                </a:solidFill>
              </a:defRPr>
            </a:lvl1pPr>
          </a:lstStyle>
          <a:p>
            <a:endParaRPr lang="nl-NL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rgbClr val="182B52"/>
                </a:solidFill>
              </a:defRPr>
            </a:lvl1pPr>
          </a:lstStyle>
          <a:p>
            <a:r>
              <a:rPr lang="nl-NL" dirty="0" smtClean="0"/>
              <a:t>Klik en typ de tekst</a:t>
            </a:r>
            <a:endParaRPr lang="nl-BE" dirty="0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1071545"/>
            <a:ext cx="5486400" cy="3656029"/>
          </a:xfrm>
        </p:spPr>
        <p:txBody>
          <a:bodyPr/>
          <a:lstStyle>
            <a:lvl1pPr marL="0" indent="0">
              <a:buNone/>
              <a:defRPr sz="3200">
                <a:solidFill>
                  <a:srgbClr val="182B5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 dirty="0" smtClean="0"/>
              <a:t>Klik op het pictogram als u een afbeelding wilt toevoegen</a:t>
            </a:r>
            <a:endParaRPr lang="nl-BE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600">
                <a:solidFill>
                  <a:srgbClr val="182B5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 smtClean="0"/>
              <a:t>Klik en typ de tekst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>
          <a:xfrm>
            <a:off x="720000" y="6372000"/>
            <a:ext cx="1800000" cy="3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82B5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636126-567D-4CD7-91ED-A4E7D28FA743}" type="slidenum">
              <a:rPr lang="nl-NL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 smtClean="0"/>
              <a:t>Klik en typ de titel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 smtClean="0"/>
              <a:t>Klik en typ de tekst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BE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CD8E6A-08C9-49B9-A7D5-27A98AD8C28F}" type="slidenum">
              <a:rPr lang="nl-NL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20000" y="4320000"/>
            <a:ext cx="7920000" cy="1440000"/>
          </a:xfrm>
        </p:spPr>
        <p:txBody>
          <a:bodyPr anchor="t"/>
          <a:lstStyle>
            <a:lvl1pPr algn="l">
              <a:defRPr sz="3600" b="1" cap="all">
                <a:solidFill>
                  <a:schemeClr val="bg1"/>
                </a:solidFill>
              </a:defRPr>
            </a:lvl1pPr>
          </a:lstStyle>
          <a:p>
            <a:r>
              <a:rPr lang="nl-NL" dirty="0" smtClean="0"/>
              <a:t>Klik en typ de tekst</a:t>
            </a:r>
            <a:endParaRPr lang="nl-BE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 hasCustomPrompt="1"/>
          </p:nvPr>
        </p:nvSpPr>
        <p:spPr>
          <a:xfrm>
            <a:off x="720000" y="2880000"/>
            <a:ext cx="7920000" cy="144000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 dirty="0" smtClean="0"/>
              <a:t>Klik en typ de tekst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EEFFD1-DFB2-4CEF-BBC9-E2EBFFEDE494}" type="slidenum">
              <a:rPr lang="nl-NL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nl-NL" dirty="0" smtClean="0"/>
              <a:t>Klik en typ de titel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 hasCustomPrompt="1"/>
          </p:nvPr>
        </p:nvSpPr>
        <p:spPr>
          <a:xfrm>
            <a:off x="719138" y="1258888"/>
            <a:ext cx="3881437" cy="46783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Klik en typ de tekst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BE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 hasCustomPrompt="1"/>
          </p:nvPr>
        </p:nvSpPr>
        <p:spPr>
          <a:xfrm>
            <a:off x="4752975" y="1258888"/>
            <a:ext cx="3883025" cy="46783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Klik en typ de tekst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BE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574D-8DFA-4EB5-BF30-236E4224952D}" type="slidenum">
              <a:rPr lang="nl-NL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 hasCustomPrompt="1"/>
          </p:nvPr>
        </p:nvSpPr>
        <p:spPr>
          <a:xfrm>
            <a:off x="720000" y="1535113"/>
            <a:ext cx="3780000" cy="639762"/>
          </a:xfrm>
        </p:spPr>
        <p:txBody>
          <a:bodyPr anchor="ctr" anchorCtr="0"/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Klik en typ de subtitel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 hasCustomPrompt="1"/>
          </p:nvPr>
        </p:nvSpPr>
        <p:spPr>
          <a:xfrm>
            <a:off x="720000" y="2160000"/>
            <a:ext cx="3780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Klik en typ de tekst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BE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Klik en typ de subtitel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Klik en typ de tekst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BE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0E3400-3D55-4C98-8673-F1D0A3CCBB71}" type="slidenum">
              <a:rPr lang="nl-NL"/>
              <a:pPr/>
              <a:t>‹nr.›</a:t>
            </a:fld>
            <a:endParaRPr lang="nl-NL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719138" y="0"/>
            <a:ext cx="7920000" cy="1079500"/>
          </a:xfrm>
        </p:spPr>
        <p:txBody>
          <a:bodyPr/>
          <a:lstStyle>
            <a:lvl1pPr>
              <a:defRPr/>
            </a:lvl1pPr>
          </a:lstStyle>
          <a:p>
            <a:r>
              <a:rPr lang="nl-NL" dirty="0" smtClean="0"/>
              <a:t>Klik en typ de titel</a:t>
            </a:r>
            <a:endParaRPr lang="nl-BE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19138" y="0"/>
            <a:ext cx="7920000" cy="1079500"/>
          </a:xfrm>
        </p:spPr>
        <p:txBody>
          <a:bodyPr/>
          <a:lstStyle>
            <a:lvl1pPr>
              <a:defRPr/>
            </a:lvl1pPr>
          </a:lstStyle>
          <a:p>
            <a:r>
              <a:rPr lang="nl-NL" dirty="0" smtClean="0"/>
              <a:t>Klik en typ de titel</a:t>
            </a:r>
            <a:endParaRPr lang="nl-BE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6D4B0D-69E4-4D7A-AC5D-1C592BA07710}" type="slidenum">
              <a:rPr lang="nl-NL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nl-NL" dirty="0" smtClean="0"/>
              <a:t>Klik en typ de tekst</a:t>
            </a:r>
            <a:endParaRPr lang="nl-BE" dirty="0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1071545"/>
            <a:ext cx="5486400" cy="3656029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 dirty="0" smtClean="0"/>
              <a:t>Klik op het pictogram als u een afbeelding wilt toevoegen</a:t>
            </a:r>
            <a:endParaRPr lang="nl-BE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 smtClean="0"/>
              <a:t>Klik en typ de tekst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636126-567D-4CD7-91ED-A4E7D28FA743}" type="slidenum">
              <a:rPr lang="nl-NL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9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-19050" y="-19050"/>
            <a:ext cx="9163050" cy="687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8" name="Picture 14" descr="KULLOGO_RGB 1CM_PSD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 rot="10800000">
            <a:off x="0" y="0"/>
            <a:ext cx="361950" cy="1079500"/>
          </a:xfrm>
          <a:prstGeom prst="rect">
            <a:avLst/>
          </a:prstGeom>
          <a:noFill/>
        </p:spPr>
      </p:pic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9138" y="6372000"/>
            <a:ext cx="18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rgbClr val="182B5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80000" y="6372000"/>
            <a:ext cx="36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200">
                <a:solidFill>
                  <a:srgbClr val="182B52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40000" y="6372000"/>
            <a:ext cx="18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rgbClr val="182B52"/>
                </a:solidFill>
              </a:defRPr>
            </a:lvl1pPr>
          </a:lstStyle>
          <a:p>
            <a:fld id="{C4FACEF4-391F-4B62-9848-645FF7ECE283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40000"/>
            <a:ext cx="7920000" cy="4678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dirty="0" smtClean="0"/>
              <a:t>Klik en typ de tekst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</a:p>
        </p:txBody>
      </p:sp>
      <p:sp>
        <p:nvSpPr>
          <p:cNvPr id="1039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719138" y="0"/>
            <a:ext cx="792000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72000" rIns="0" bIns="720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dirty="0" smtClean="0"/>
              <a:t>Klik en typ de titel</a:t>
            </a:r>
          </a:p>
        </p:txBody>
      </p:sp>
      <p:pic>
        <p:nvPicPr>
          <p:cNvPr id="9" name="Picture 159" descr="sie_logo_petrol_rgb_2"/>
          <p:cNvPicPr>
            <a:picLocks noChangeAspect="1" noChangeArrowheads="1"/>
          </p:cNvPicPr>
          <p:nvPr userDrawn="1"/>
        </p:nvPicPr>
        <p:blipFill>
          <a:blip r:embed="rId11" cstate="print"/>
          <a:srcRect/>
          <a:stretch>
            <a:fillRect/>
          </a:stretch>
        </p:blipFill>
        <p:spPr bwMode="auto">
          <a:xfrm rot="5400000">
            <a:off x="8474932" y="431834"/>
            <a:ext cx="1080120" cy="216452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7" r:id="rId7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182B52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182B52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rgbClr val="182B52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rgbClr val="182B52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rgbClr val="182B52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rgbClr val="182B52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rgbClr val="182B52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rgbClr val="182B52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rgbClr val="182B52"/>
          </a:solidFill>
          <a:latin typeface="+mn-lt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PP_CORP_BACKGR_2.jpg"/>
          <p:cNvPicPr>
            <a:picLocks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44000" cy="684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720000" y="0"/>
            <a:ext cx="7920000" cy="1080000"/>
          </a:xfrm>
          <a:prstGeom prst="rect">
            <a:avLst/>
          </a:prstGeom>
        </p:spPr>
        <p:txBody>
          <a:bodyPr vert="horz" lIns="0" tIns="72000" rIns="0" bIns="72000" rtlCol="0" anchor="ctr">
            <a:noAutofit/>
          </a:bodyPr>
          <a:lstStyle/>
          <a:p>
            <a:r>
              <a:rPr lang="nl-NL" dirty="0" smtClean="0"/>
              <a:t>Klik en typ de titel</a:t>
            </a:r>
            <a:endParaRPr lang="nl-BE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0000" y="1260000"/>
            <a:ext cx="7920000" cy="468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 smtClean="0"/>
              <a:t>Klik en typ de tekst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880000" y="6372000"/>
            <a:ext cx="3600000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200">
                <a:solidFill>
                  <a:srgbClr val="182B52"/>
                </a:solidFill>
              </a:defRPr>
            </a:lvl1pPr>
          </a:lstStyle>
          <a:p>
            <a:endParaRPr lang="nl-BE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840000" y="6372000"/>
            <a:ext cx="1800000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200">
                <a:solidFill>
                  <a:srgbClr val="182B52"/>
                </a:solidFill>
              </a:defRPr>
            </a:lvl1pPr>
          </a:lstStyle>
          <a:p>
            <a:fld id="{2E3170F3-97A2-46CA-9513-0AABCA275CBE}" type="slidenum">
              <a:rPr lang="nl-BE" smtClean="0"/>
              <a:pPr/>
              <a:t>‹nr.›</a:t>
            </a:fld>
            <a:endParaRPr lang="nl-BE"/>
          </a:p>
        </p:txBody>
      </p:sp>
      <p:pic>
        <p:nvPicPr>
          <p:cNvPr id="8" name="Picture 14" descr="KULLOGO_RGB 1CM_PSD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778875" y="0"/>
            <a:ext cx="361950" cy="1079500"/>
          </a:xfrm>
          <a:prstGeom prst="rect">
            <a:avLst/>
          </a:prstGeom>
          <a:noFill/>
        </p:spPr>
      </p:pic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9138" y="6372000"/>
            <a:ext cx="18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rgbClr val="182B52"/>
                </a:solidFill>
              </a:defRPr>
            </a:lvl1pPr>
          </a:lstStyle>
          <a:p>
            <a:endParaRPr lang="nl-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bg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rgbClr val="182B52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182B52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182B52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rgbClr val="182B52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182B52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 descr="PP_CORP_BACKGR_3.jpg"/>
          <p:cNvPicPr>
            <a:picLocks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44000" cy="6876000"/>
          </a:xfrm>
          <a:prstGeom prst="rect">
            <a:avLst/>
          </a:prstGeom>
        </p:spPr>
      </p:pic>
      <p:pic>
        <p:nvPicPr>
          <p:cNvPr id="1038" name="Picture 14" descr="KULLOGO_RGB 1CM_PSD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778875" y="0"/>
            <a:ext cx="361950" cy="1079500"/>
          </a:xfrm>
          <a:prstGeom prst="rect">
            <a:avLst/>
          </a:prstGeom>
          <a:noFill/>
        </p:spPr>
      </p:pic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9138" y="6372000"/>
            <a:ext cx="18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80000" y="6372000"/>
            <a:ext cx="36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40000" y="6372000"/>
            <a:ext cx="180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fld id="{C4FACEF4-391F-4B62-9848-645FF7ECE283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40000"/>
            <a:ext cx="7920000" cy="4678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dirty="0" smtClean="0"/>
              <a:t>Klik en typ de tekst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</a:p>
        </p:txBody>
      </p:sp>
      <p:sp>
        <p:nvSpPr>
          <p:cNvPr id="1039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719138" y="0"/>
            <a:ext cx="792000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72000" rIns="0" bIns="720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dirty="0" smtClean="0"/>
              <a:t>Klik en typ de titel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chemeClr val="bg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rgbClr val="182B52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rgbClr val="182B52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rgbClr val="182B52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rgbClr val="182B52"/>
          </a:solidFill>
          <a:latin typeface="+mn-lt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11560" y="1628800"/>
            <a:ext cx="8026028" cy="4392488"/>
          </a:xfrm>
          <a:ln/>
        </p:spPr>
        <p:txBody>
          <a:bodyPr anchor="t"/>
          <a:lstStyle/>
          <a:p>
            <a:pPr algn="ctr"/>
            <a:r>
              <a:rPr lang="en-US" b="1" dirty="0" smtClean="0">
                <a:solidFill>
                  <a:srgbClr val="FFFF00"/>
                </a:solidFill>
              </a:rPr>
              <a:t>Completion of a Truncated Attenuation Image from the Attenuated PET Emission Data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600" dirty="0" smtClean="0"/>
              <a:t>Johan Nuyts, Christian Michel, Matthias Fenchel, Girish Bal, Charles Watson</a:t>
            </a:r>
            <a:r>
              <a:rPr lang="en-US" dirty="0" smtClean="0"/>
              <a:t/>
            </a:r>
            <a:br>
              <a:rPr lang="en-US" dirty="0" smtClean="0"/>
            </a:br>
            <a:endParaRPr lang="nl-B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PET-MR: attenuation correction</a:t>
            </a:r>
            <a:endParaRPr lang="nl-BE" dirty="0"/>
          </a:p>
        </p:txBody>
      </p:sp>
      <p:grpSp>
        <p:nvGrpSpPr>
          <p:cNvPr id="9" name="Groep 8"/>
          <p:cNvGrpSpPr/>
          <p:nvPr/>
        </p:nvGrpSpPr>
        <p:grpSpPr>
          <a:xfrm>
            <a:off x="196646" y="2487570"/>
            <a:ext cx="3480612" cy="3480612"/>
            <a:chOff x="2743200" y="1602665"/>
            <a:chExt cx="4306525" cy="4306525"/>
          </a:xfrm>
        </p:grpSpPr>
        <p:sp>
          <p:nvSpPr>
            <p:cNvPr id="8" name="Ovaal 7"/>
            <p:cNvSpPr/>
            <p:nvPr/>
          </p:nvSpPr>
          <p:spPr bwMode="auto">
            <a:xfrm>
              <a:off x="2743200" y="1602665"/>
              <a:ext cx="4306525" cy="4306525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nl-BE" sz="2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969341" y="2789815"/>
              <a:ext cx="3795252" cy="19315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1" name="Ovaal 10"/>
          <p:cNvSpPr/>
          <p:nvPr/>
        </p:nvSpPr>
        <p:spPr bwMode="auto">
          <a:xfrm>
            <a:off x="252265" y="2543189"/>
            <a:ext cx="3369364" cy="3369364"/>
          </a:xfrm>
          <a:prstGeom prst="ellipse">
            <a:avLst/>
          </a:prstGeom>
          <a:solidFill>
            <a:srgbClr val="92D050">
              <a:alpha val="12157"/>
            </a:srgbClr>
          </a:solidFill>
          <a:ln w="2857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2" name="Ovaal 11"/>
          <p:cNvSpPr/>
          <p:nvPr/>
        </p:nvSpPr>
        <p:spPr bwMode="auto">
          <a:xfrm>
            <a:off x="510535" y="2801459"/>
            <a:ext cx="2852834" cy="2852834"/>
          </a:xfrm>
          <a:prstGeom prst="ellipse">
            <a:avLst/>
          </a:prstGeom>
          <a:solidFill>
            <a:srgbClr val="00AEEF">
              <a:alpha val="12157"/>
            </a:srgbClr>
          </a:solidFill>
          <a:ln w="28575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3" name="Ovaal 12"/>
          <p:cNvSpPr/>
          <p:nvPr/>
        </p:nvSpPr>
        <p:spPr bwMode="auto">
          <a:xfrm>
            <a:off x="792635" y="3083559"/>
            <a:ext cx="2304517" cy="2304517"/>
          </a:xfrm>
          <a:prstGeom prst="ellipse">
            <a:avLst/>
          </a:prstGeom>
          <a:solidFill>
            <a:srgbClr val="FF0000">
              <a:alpha val="12157"/>
            </a:srgbClr>
          </a:solidFill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grpSp>
        <p:nvGrpSpPr>
          <p:cNvPr id="24" name="Groep 23"/>
          <p:cNvGrpSpPr/>
          <p:nvPr/>
        </p:nvGrpSpPr>
        <p:grpSpPr>
          <a:xfrm>
            <a:off x="599768" y="1897625"/>
            <a:ext cx="782587" cy="904567"/>
            <a:chOff x="3687097" y="1238864"/>
            <a:chExt cx="782587" cy="90456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Tekstvak 13"/>
            <p:cNvSpPr txBox="1"/>
            <p:nvPr/>
          </p:nvSpPr>
          <p:spPr>
            <a:xfrm>
              <a:off x="3687097" y="1238864"/>
              <a:ext cx="782587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PET</a:t>
              </a:r>
              <a:endParaRPr lang="nl-BE" dirty="0">
                <a:solidFill>
                  <a:schemeClr val="tx1"/>
                </a:solidFill>
              </a:endParaRPr>
            </a:p>
          </p:txBody>
        </p:sp>
        <p:cxnSp>
          <p:nvCxnSpPr>
            <p:cNvPr id="18" name="Rechte verbindingslijn met pijl 17"/>
            <p:cNvCxnSpPr>
              <a:stCxn id="14" idx="2"/>
            </p:cNvCxnSpPr>
            <p:nvPr/>
          </p:nvCxnSpPr>
          <p:spPr bwMode="auto">
            <a:xfrm rot="16200000" flipH="1">
              <a:off x="3862854" y="1916065"/>
              <a:ext cx="442903" cy="11829"/>
            </a:xfrm>
            <a:prstGeom prst="straightConnector1">
              <a:avLst/>
            </a:prstGeom>
            <a:noFill/>
            <a:ln w="2857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5" name="Groep 24"/>
          <p:cNvGrpSpPr/>
          <p:nvPr/>
        </p:nvGrpSpPr>
        <p:grpSpPr>
          <a:xfrm>
            <a:off x="1922206" y="1853380"/>
            <a:ext cx="595035" cy="948813"/>
            <a:chOff x="3947651" y="1784555"/>
            <a:chExt cx="595035" cy="94881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Tekstvak 14"/>
            <p:cNvSpPr txBox="1"/>
            <p:nvPr/>
          </p:nvSpPr>
          <p:spPr>
            <a:xfrm>
              <a:off x="3947651" y="1784555"/>
              <a:ext cx="595035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AEEF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CT</a:t>
              </a:r>
              <a:endParaRPr lang="nl-BE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Rechte verbindingslijn met pijl 18"/>
            <p:cNvCxnSpPr>
              <a:stCxn id="15" idx="2"/>
            </p:cNvCxnSpPr>
            <p:nvPr/>
          </p:nvCxnSpPr>
          <p:spPr bwMode="auto">
            <a:xfrm rot="5400000">
              <a:off x="3958535" y="2446734"/>
              <a:ext cx="487149" cy="86120"/>
            </a:xfrm>
            <a:prstGeom prst="straightConnector1">
              <a:avLst/>
            </a:prstGeom>
            <a:noFill/>
            <a:ln w="2857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6" name="Groep 25"/>
          <p:cNvGrpSpPr/>
          <p:nvPr/>
        </p:nvGrpSpPr>
        <p:grpSpPr>
          <a:xfrm>
            <a:off x="2566219" y="2054941"/>
            <a:ext cx="1096584" cy="1229033"/>
            <a:chOff x="4385187" y="2487561"/>
            <a:chExt cx="1096584" cy="122903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Tekstvak 15"/>
            <p:cNvSpPr txBox="1"/>
            <p:nvPr/>
          </p:nvSpPr>
          <p:spPr>
            <a:xfrm>
              <a:off x="4817807" y="2487561"/>
              <a:ext cx="663964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MR</a:t>
              </a:r>
              <a:endParaRPr lang="nl-BE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Rechte verbindingslijn met pijl 20"/>
            <p:cNvCxnSpPr/>
            <p:nvPr/>
          </p:nvCxnSpPr>
          <p:spPr bwMode="auto">
            <a:xfrm rot="5400000">
              <a:off x="4220495" y="3114368"/>
              <a:ext cx="766918" cy="437534"/>
            </a:xfrm>
            <a:prstGeom prst="straightConnector1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37" name="Tekstvak 36"/>
          <p:cNvSpPr txBox="1"/>
          <p:nvPr/>
        </p:nvSpPr>
        <p:spPr>
          <a:xfrm>
            <a:off x="3942736" y="1386348"/>
            <a:ext cx="3421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Attenuation correction problems in PET-MR:</a:t>
            </a:r>
          </a:p>
        </p:txBody>
      </p:sp>
      <p:sp>
        <p:nvSpPr>
          <p:cNvPr id="38" name="Tekstvak 37"/>
          <p:cNvSpPr txBox="1"/>
          <p:nvPr/>
        </p:nvSpPr>
        <p:spPr>
          <a:xfrm>
            <a:off x="3800168" y="2593569"/>
            <a:ext cx="1892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1. MR-value</a:t>
            </a:r>
          </a:p>
        </p:txBody>
      </p:sp>
      <p:sp>
        <p:nvSpPr>
          <p:cNvPr id="39" name="Tekstvak 38"/>
          <p:cNvSpPr txBox="1"/>
          <p:nvPr/>
        </p:nvSpPr>
        <p:spPr>
          <a:xfrm>
            <a:off x="4119716" y="3637934"/>
            <a:ext cx="4021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PET attenuation coefficient</a:t>
            </a:r>
          </a:p>
        </p:txBody>
      </p:sp>
      <p:sp>
        <p:nvSpPr>
          <p:cNvPr id="40" name="PIJL-RECHTS 39"/>
          <p:cNvSpPr/>
          <p:nvPr/>
        </p:nvSpPr>
        <p:spPr bwMode="auto">
          <a:xfrm rot="5400000">
            <a:off x="4696174" y="3152511"/>
            <a:ext cx="498902" cy="393290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41" name="Tekstvak 40"/>
          <p:cNvSpPr txBox="1"/>
          <p:nvPr/>
        </p:nvSpPr>
        <p:spPr>
          <a:xfrm>
            <a:off x="3800168" y="4614097"/>
            <a:ext cx="5184170" cy="134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/>
            <a:r>
              <a:rPr lang="en-US" dirty="0" smtClean="0">
                <a:solidFill>
                  <a:schemeClr val="tx1"/>
                </a:solidFill>
              </a:rPr>
              <a:t>2. </a:t>
            </a:r>
            <a:r>
              <a:rPr lang="en-US" dirty="0" smtClean="0">
                <a:solidFill>
                  <a:schemeClr val="tx1"/>
                </a:solidFill>
              </a:rPr>
              <a:t>in case of truncation:</a:t>
            </a:r>
          </a:p>
          <a:p>
            <a:pPr marL="354013" indent="-354013"/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dirty="0" smtClean="0">
                <a:solidFill>
                  <a:schemeClr val="tx1"/>
                </a:solidFill>
              </a:rPr>
              <a:t>(large patients, arms in FOV)</a:t>
            </a:r>
            <a:endParaRPr lang="en-US" dirty="0" smtClean="0">
              <a:solidFill>
                <a:schemeClr val="tx1"/>
              </a:solidFill>
            </a:endParaRPr>
          </a:p>
          <a:p>
            <a:pPr marL="354013" indent="-354013"/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dirty="0" smtClean="0">
                <a:solidFill>
                  <a:schemeClr val="tx1"/>
                </a:solidFill>
              </a:rPr>
              <a:t>restore missing part </a:t>
            </a:r>
            <a:r>
              <a:rPr lang="en-US" dirty="0" smtClean="0">
                <a:solidFill>
                  <a:schemeClr val="tx1"/>
                </a:solidFill>
              </a:rPr>
              <a:t>in MR image</a:t>
            </a:r>
          </a:p>
        </p:txBody>
      </p:sp>
      <p:sp>
        <p:nvSpPr>
          <p:cNvPr id="45" name="Ovaal 44"/>
          <p:cNvSpPr/>
          <p:nvPr/>
        </p:nvSpPr>
        <p:spPr bwMode="auto">
          <a:xfrm rot="535280">
            <a:off x="3410056" y="4599891"/>
            <a:ext cx="5550303" cy="1875020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37" grpId="0"/>
      <p:bldP spid="38" grpId="0"/>
      <p:bldP spid="39" grpId="0"/>
      <p:bldP spid="40" grpId="0" animBg="1"/>
      <p:bldP spid="41" grpId="0"/>
      <p:bldP spid="4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consistency, likelihood</a:t>
            </a:r>
            <a:endParaRPr lang="nl-BE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8489" y="1010768"/>
            <a:ext cx="1810511" cy="118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5177" y="1187378"/>
            <a:ext cx="1810511" cy="1186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PIJL-OMLAAG 7"/>
          <p:cNvSpPr/>
          <p:nvPr/>
        </p:nvSpPr>
        <p:spPr bwMode="auto">
          <a:xfrm rot="18900000">
            <a:off x="3759312" y="1980453"/>
            <a:ext cx="365760" cy="621792"/>
          </a:xfrm>
          <a:prstGeom prst="downArrow">
            <a:avLst/>
          </a:prstGeom>
          <a:solidFill>
            <a:schemeClr val="accent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93039" y="2640502"/>
            <a:ext cx="1482436" cy="1502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PIJL-OMLAAG 9"/>
          <p:cNvSpPr/>
          <p:nvPr/>
        </p:nvSpPr>
        <p:spPr bwMode="auto">
          <a:xfrm rot="6239774">
            <a:off x="2734056" y="3132948"/>
            <a:ext cx="365760" cy="621792"/>
          </a:xfrm>
          <a:prstGeom prst="downArrow">
            <a:avLst/>
          </a:prstGeom>
          <a:solidFill>
            <a:schemeClr val="accent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65177" y="2696129"/>
            <a:ext cx="2117333" cy="1226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PIJL-OMLAAG 11"/>
          <p:cNvSpPr/>
          <p:nvPr/>
        </p:nvSpPr>
        <p:spPr bwMode="auto">
          <a:xfrm rot="4199975">
            <a:off x="2742855" y="4388515"/>
            <a:ext cx="365760" cy="621792"/>
          </a:xfrm>
          <a:prstGeom prst="downArrow">
            <a:avLst/>
          </a:prstGeom>
          <a:solidFill>
            <a:schemeClr val="accent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65177" y="4344207"/>
            <a:ext cx="2117333" cy="1353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Afgeronde rechthoek 14"/>
          <p:cNvSpPr/>
          <p:nvPr/>
        </p:nvSpPr>
        <p:spPr bwMode="auto">
          <a:xfrm>
            <a:off x="3747277" y="1481327"/>
            <a:ext cx="1088136" cy="58477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attenuated projection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6" name="Afgeronde rechthoek 15"/>
          <p:cNvSpPr/>
          <p:nvPr/>
        </p:nvSpPr>
        <p:spPr bwMode="auto">
          <a:xfrm>
            <a:off x="2671069" y="2834967"/>
            <a:ext cx="757931" cy="35623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FBP</a:t>
            </a:r>
          </a:p>
        </p:txBody>
      </p:sp>
      <p:sp>
        <p:nvSpPr>
          <p:cNvPr id="17" name="Afgeronde rechthoek 16"/>
          <p:cNvSpPr/>
          <p:nvPr/>
        </p:nvSpPr>
        <p:spPr bwMode="auto">
          <a:xfrm>
            <a:off x="2671069" y="4977598"/>
            <a:ext cx="976177" cy="35623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NEG-ML</a:t>
            </a:r>
          </a:p>
        </p:txBody>
      </p:sp>
      <p:sp>
        <p:nvSpPr>
          <p:cNvPr id="20" name="PIJL-OMLAAG 19"/>
          <p:cNvSpPr/>
          <p:nvPr/>
        </p:nvSpPr>
        <p:spPr bwMode="auto">
          <a:xfrm rot="15360226" flipH="1">
            <a:off x="5477913" y="2994110"/>
            <a:ext cx="365760" cy="621792"/>
          </a:xfrm>
          <a:prstGeom prst="downArrow">
            <a:avLst/>
          </a:prstGeom>
          <a:solidFill>
            <a:schemeClr val="accent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21" name="PIJL-OMLAAG 20"/>
          <p:cNvSpPr/>
          <p:nvPr/>
        </p:nvSpPr>
        <p:spPr bwMode="auto">
          <a:xfrm rot="17400025" flipH="1">
            <a:off x="5486711" y="4311497"/>
            <a:ext cx="365760" cy="621792"/>
          </a:xfrm>
          <a:prstGeom prst="downArrow">
            <a:avLst/>
          </a:prstGeom>
          <a:solidFill>
            <a:schemeClr val="accent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22" name="Afgeronde rechthoek 21"/>
          <p:cNvSpPr/>
          <p:nvPr/>
        </p:nvSpPr>
        <p:spPr bwMode="auto">
          <a:xfrm>
            <a:off x="5214865" y="2696129"/>
            <a:ext cx="757931" cy="35623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FBP</a:t>
            </a:r>
          </a:p>
        </p:txBody>
      </p:sp>
      <p:sp>
        <p:nvSpPr>
          <p:cNvPr id="23" name="Afgeronde rechthoek 22"/>
          <p:cNvSpPr/>
          <p:nvPr/>
        </p:nvSpPr>
        <p:spPr bwMode="auto">
          <a:xfrm>
            <a:off x="5314896" y="4977598"/>
            <a:ext cx="976177" cy="35623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NEG-ML</a:t>
            </a:r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417334" y="2439038"/>
            <a:ext cx="2069044" cy="1226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472198" y="4344207"/>
            <a:ext cx="2069044" cy="14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0" name="Groep 39"/>
          <p:cNvGrpSpPr/>
          <p:nvPr/>
        </p:nvGrpSpPr>
        <p:grpSpPr>
          <a:xfrm>
            <a:off x="5541264" y="170771"/>
            <a:ext cx="2999978" cy="2203272"/>
            <a:chOff x="5541264" y="170771"/>
            <a:chExt cx="2999978" cy="2203272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5541264" y="170771"/>
              <a:ext cx="2945114" cy="2203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7" name="Afgeronde rechthoek 26"/>
            <p:cNvSpPr/>
            <p:nvPr/>
          </p:nvSpPr>
          <p:spPr bwMode="auto">
            <a:xfrm>
              <a:off x="6812209" y="946977"/>
              <a:ext cx="1729033" cy="35623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lvl="0" algn="ctr"/>
              <a:r>
                <a:rPr lang="en-US" sz="1600" dirty="0" smtClean="0">
                  <a:solidFill>
                    <a:srgbClr val="0070C0"/>
                  </a:solidFill>
                </a:rPr>
                <a:t>NO ATTEN CORR</a:t>
              </a:r>
            </a:p>
          </p:txBody>
        </p:sp>
        <p:sp>
          <p:nvSpPr>
            <p:cNvPr id="28" name="Afgeronde rechthoek 27"/>
            <p:cNvSpPr/>
            <p:nvPr/>
          </p:nvSpPr>
          <p:spPr bwMode="auto">
            <a:xfrm>
              <a:off x="6812209" y="353166"/>
              <a:ext cx="1729033" cy="35623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lvl="0" algn="ctr"/>
              <a:r>
                <a:rPr lang="en-US" sz="1600" dirty="0" smtClean="0">
                  <a:solidFill>
                    <a:srgbClr val="C00000"/>
                  </a:solidFill>
                </a:rPr>
                <a:t>ATTEN CORR</a:t>
              </a:r>
            </a:p>
          </p:txBody>
        </p:sp>
        <p:sp>
          <p:nvSpPr>
            <p:cNvPr id="29" name="Afgeronde rechthoek 28"/>
            <p:cNvSpPr/>
            <p:nvPr/>
          </p:nvSpPr>
          <p:spPr bwMode="auto">
            <a:xfrm rot="16200000">
              <a:off x="5070025" y="901381"/>
              <a:ext cx="1298711" cy="285997"/>
            </a:xfrm>
            <a:prstGeom prst="round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lvl="0" algn="ctr"/>
              <a:r>
                <a:rPr lang="en-US" sz="1600" dirty="0" smtClean="0">
                  <a:solidFill>
                    <a:srgbClr val="000000"/>
                  </a:solidFill>
                </a:rPr>
                <a:t>likelihood</a:t>
              </a:r>
            </a:p>
          </p:txBody>
        </p:sp>
        <p:sp>
          <p:nvSpPr>
            <p:cNvPr id="30" name="Afgeronde rechthoek 29"/>
            <p:cNvSpPr/>
            <p:nvPr/>
          </p:nvSpPr>
          <p:spPr bwMode="auto">
            <a:xfrm>
              <a:off x="7343833" y="2109295"/>
              <a:ext cx="1068648" cy="249427"/>
            </a:xfrm>
            <a:prstGeom prst="round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lvl="0" algn="ctr"/>
              <a:r>
                <a:rPr lang="en-US" sz="1600" dirty="0" smtClean="0">
                  <a:solidFill>
                    <a:srgbClr val="000000"/>
                  </a:solidFill>
                </a:rPr>
                <a:t>iteration</a:t>
              </a:r>
            </a:p>
          </p:txBody>
        </p:sp>
      </p:grpSp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65177" y="4691255"/>
            <a:ext cx="1589939" cy="1605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41087" y="2640502"/>
            <a:ext cx="1614029" cy="159796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469689" y="2419763"/>
            <a:ext cx="1605999" cy="1605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90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93779" y="4530831"/>
            <a:ext cx="1581909" cy="1605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905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8" name="Afgeronde rechthoek 37"/>
          <p:cNvSpPr/>
          <p:nvPr/>
        </p:nvSpPr>
        <p:spPr bwMode="auto">
          <a:xfrm>
            <a:off x="2382510" y="5780597"/>
            <a:ext cx="1729033" cy="35623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70C0"/>
                </a:solidFill>
              </a:rPr>
              <a:t>NO ATTEN CORR</a:t>
            </a:r>
          </a:p>
        </p:txBody>
      </p:sp>
      <p:sp>
        <p:nvSpPr>
          <p:cNvPr id="39" name="Afgeronde rechthoek 38"/>
          <p:cNvSpPr/>
          <p:nvPr/>
        </p:nvSpPr>
        <p:spPr bwMode="auto">
          <a:xfrm>
            <a:off x="5083176" y="5780597"/>
            <a:ext cx="1729033" cy="35623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C00000"/>
                </a:solidFill>
              </a:rPr>
              <a:t>ATTEN CORR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076096" y="2651747"/>
            <a:ext cx="1563042" cy="1586724"/>
          </a:xfrm>
          <a:prstGeom prst="rect">
            <a:avLst/>
          </a:prstGeom>
          <a:noFill/>
          <a:ln w="9525">
            <a:solidFill>
              <a:schemeClr val="tx2">
                <a:lumMod val="75000"/>
                <a:lumOff val="25000"/>
              </a:schemeClr>
            </a:solidFill>
            <a:miter lim="800000"/>
            <a:headEnd/>
            <a:tailEnd/>
          </a:ln>
          <a:effectLst>
            <a:outerShdw blurRad="50800" dist="1016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076097" y="4530831"/>
            <a:ext cx="1563041" cy="1586724"/>
          </a:xfrm>
          <a:prstGeom prst="rect">
            <a:avLst/>
          </a:prstGeom>
          <a:noFill/>
          <a:ln w="9525">
            <a:solidFill>
              <a:schemeClr val="tx2">
                <a:lumMod val="75000"/>
                <a:lumOff val="25000"/>
              </a:schemeClr>
            </a:solidFill>
            <a:miter lim="800000"/>
            <a:headEnd/>
            <a:tailEnd/>
          </a:ln>
          <a:effectLst>
            <a:outerShdw blurRad="50800" dist="1016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6849440" y="2419763"/>
            <a:ext cx="1563041" cy="1586723"/>
          </a:xfrm>
          <a:prstGeom prst="rect">
            <a:avLst/>
          </a:prstGeom>
          <a:noFill/>
          <a:ln w="9525">
            <a:solidFill>
              <a:schemeClr val="tx2">
                <a:lumMod val="75000"/>
                <a:lumOff val="25000"/>
              </a:schemeClr>
            </a:solidFill>
            <a:miter lim="800000"/>
            <a:headEnd/>
            <a:tailEnd/>
          </a:ln>
          <a:effectLst>
            <a:outerShdw blurRad="50800" dist="165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6849440" y="4424297"/>
            <a:ext cx="1563041" cy="1586723"/>
          </a:xfrm>
          <a:prstGeom prst="rect">
            <a:avLst/>
          </a:prstGeom>
          <a:noFill/>
          <a:ln w="9525">
            <a:solidFill>
              <a:schemeClr val="tx2">
                <a:lumMod val="75000"/>
                <a:lumOff val="25000"/>
              </a:schemeClr>
            </a:solidFill>
            <a:miter lim="800000"/>
            <a:headEnd/>
            <a:tailEnd/>
          </a:ln>
          <a:effectLst>
            <a:outerShdw blurRad="50800" dist="165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5" grpId="0" animBg="1"/>
      <p:bldP spid="16" grpId="0" animBg="1"/>
      <p:bldP spid="17" grpId="0" animBg="1"/>
      <p:bldP spid="20" grpId="0" animBg="1"/>
      <p:bldP spid="21" grpId="0" animBg="1"/>
      <p:bldP spid="22" grpId="0" animBg="1"/>
      <p:bldP spid="23" grpId="0" animBg="1"/>
      <p:bldP spid="38" grpId="0" animBg="1"/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consistency, likelihood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719138" y="1079500"/>
            <a:ext cx="7920000" cy="5543242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consistency</a:t>
            </a:r>
          </a:p>
          <a:p>
            <a:pPr lvl="1"/>
            <a:r>
              <a:rPr lang="en-US" dirty="0" smtClean="0">
                <a:solidFill>
                  <a:schemeClr val="accent2"/>
                </a:solidFill>
              </a:rPr>
              <a:t>analytical consistency conditions</a:t>
            </a:r>
          </a:p>
          <a:p>
            <a:pPr lvl="2"/>
            <a:r>
              <a:rPr lang="en-US" dirty="0" err="1" smtClean="0"/>
              <a:t>Natterer</a:t>
            </a:r>
            <a:r>
              <a:rPr lang="en-US" dirty="0" smtClean="0"/>
              <a:t>, </a:t>
            </a:r>
            <a:r>
              <a:rPr lang="en-US" i="1" dirty="0" smtClean="0"/>
              <a:t>Inverse Problems </a:t>
            </a:r>
            <a:r>
              <a:rPr lang="en-US" dirty="0" smtClean="0"/>
              <a:t>1993</a:t>
            </a:r>
          </a:p>
          <a:p>
            <a:pPr lvl="2"/>
            <a:r>
              <a:rPr lang="en-US" dirty="0" smtClean="0"/>
              <a:t>Welch et al, </a:t>
            </a:r>
            <a:r>
              <a:rPr lang="en-US" i="1" dirty="0" smtClean="0"/>
              <a:t>IEEE TMI </a:t>
            </a:r>
            <a:r>
              <a:rPr lang="en-US" dirty="0" smtClean="0"/>
              <a:t>1997</a:t>
            </a:r>
          </a:p>
          <a:p>
            <a:pPr lvl="1"/>
            <a:r>
              <a:rPr lang="en-US" dirty="0" smtClean="0">
                <a:solidFill>
                  <a:schemeClr val="accent2"/>
                </a:solidFill>
              </a:rPr>
              <a:t>discrete consistency conditions</a:t>
            </a:r>
          </a:p>
          <a:p>
            <a:pPr lvl="2"/>
            <a:r>
              <a:rPr lang="en-US" dirty="0" err="1" smtClean="0"/>
              <a:t>Bronnikov</a:t>
            </a:r>
            <a:r>
              <a:rPr lang="en-US" dirty="0" smtClean="0"/>
              <a:t>, </a:t>
            </a:r>
            <a:r>
              <a:rPr lang="en-US" i="1" dirty="0" smtClean="0"/>
              <a:t>Inverse Problems </a:t>
            </a:r>
            <a:r>
              <a:rPr lang="en-US" dirty="0" smtClean="0"/>
              <a:t>1999, </a:t>
            </a:r>
            <a:r>
              <a:rPr lang="en-US" i="1" dirty="0" smtClean="0"/>
              <a:t>IEEE TMI </a:t>
            </a:r>
            <a:r>
              <a:rPr lang="en-US" dirty="0" smtClean="0"/>
              <a:t>2000</a:t>
            </a:r>
          </a:p>
          <a:p>
            <a:pPr lvl="2"/>
            <a:r>
              <a:rPr lang="en-US" dirty="0" err="1" smtClean="0"/>
              <a:t>Kudo</a:t>
            </a:r>
            <a:r>
              <a:rPr lang="en-US" dirty="0" smtClean="0"/>
              <a:t> et al, </a:t>
            </a:r>
            <a:r>
              <a:rPr lang="en-US" i="1" dirty="0" smtClean="0"/>
              <a:t>IEEE NSS-MIC </a:t>
            </a:r>
            <a:r>
              <a:rPr lang="en-US" dirty="0" smtClean="0"/>
              <a:t>2000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simultaneous iterative reconstruction</a:t>
            </a:r>
          </a:p>
          <a:p>
            <a:pPr lvl="1"/>
            <a:r>
              <a:rPr lang="en-US" dirty="0" smtClean="0">
                <a:solidFill>
                  <a:schemeClr val="accent2"/>
                </a:solidFill>
              </a:rPr>
              <a:t>POCS, least squares</a:t>
            </a:r>
          </a:p>
          <a:p>
            <a:pPr lvl="2"/>
            <a:r>
              <a:rPr lang="en-US" dirty="0" smtClean="0"/>
              <a:t>Censor et al, </a:t>
            </a:r>
            <a:r>
              <a:rPr lang="en-US" i="1" dirty="0" smtClean="0"/>
              <a:t>IEEE TNS </a:t>
            </a:r>
            <a:r>
              <a:rPr lang="en-US" dirty="0" smtClean="0"/>
              <a:t>1979</a:t>
            </a:r>
          </a:p>
          <a:p>
            <a:pPr lvl="2"/>
            <a:r>
              <a:rPr lang="en-US" dirty="0" smtClean="0"/>
              <a:t>Panin et al,  </a:t>
            </a:r>
            <a:r>
              <a:rPr lang="en-US" i="1" dirty="0" smtClean="0"/>
              <a:t>IEEE TNS </a:t>
            </a:r>
            <a:r>
              <a:rPr lang="en-US" dirty="0" smtClean="0"/>
              <a:t>2001</a:t>
            </a:r>
          </a:p>
          <a:p>
            <a:pPr lvl="1"/>
            <a:r>
              <a:rPr lang="en-US" dirty="0" smtClean="0">
                <a:solidFill>
                  <a:schemeClr val="accent2"/>
                </a:solidFill>
              </a:rPr>
              <a:t>maximum likelihood</a:t>
            </a:r>
          </a:p>
          <a:p>
            <a:pPr lvl="2"/>
            <a:r>
              <a:rPr lang="en-US" dirty="0" err="1" smtClean="0"/>
              <a:t>Krol</a:t>
            </a:r>
            <a:r>
              <a:rPr lang="en-US" dirty="0" smtClean="0"/>
              <a:t> et al, </a:t>
            </a:r>
            <a:r>
              <a:rPr lang="en-US" i="1" dirty="0" smtClean="0"/>
              <a:t>IEEE TMI</a:t>
            </a:r>
            <a:r>
              <a:rPr lang="en-US" dirty="0" smtClean="0"/>
              <a:t> 2001, </a:t>
            </a:r>
            <a:r>
              <a:rPr lang="en-US" i="1" dirty="0" smtClean="0"/>
              <a:t>SNM </a:t>
            </a:r>
            <a:r>
              <a:rPr lang="en-US" dirty="0" smtClean="0"/>
              <a:t>1995</a:t>
            </a:r>
          </a:p>
          <a:p>
            <a:pPr lvl="2"/>
            <a:r>
              <a:rPr lang="en-US" dirty="0" smtClean="0"/>
              <a:t>Nuyts et al, </a:t>
            </a:r>
            <a:r>
              <a:rPr lang="en-US" i="1" dirty="0" smtClean="0"/>
              <a:t>IEEE TMI </a:t>
            </a:r>
            <a:r>
              <a:rPr lang="en-US" dirty="0" smtClean="0"/>
              <a:t>1999</a:t>
            </a:r>
          </a:p>
          <a:p>
            <a:pPr lvl="2"/>
            <a:r>
              <a:rPr lang="en-US" dirty="0" err="1" smtClean="0"/>
              <a:t>Laymon</a:t>
            </a:r>
            <a:r>
              <a:rPr lang="en-US" dirty="0" smtClean="0"/>
              <a:t> et al, </a:t>
            </a:r>
            <a:r>
              <a:rPr lang="en-US" i="1" dirty="0" smtClean="0"/>
              <a:t>IEEE NSS-MIC </a:t>
            </a:r>
            <a:r>
              <a:rPr lang="en-US" dirty="0" smtClean="0"/>
              <a:t>2004</a:t>
            </a:r>
          </a:p>
          <a:p>
            <a:pPr lvl="2"/>
            <a:r>
              <a:rPr lang="en-US" dirty="0" smtClean="0"/>
              <a:t>De </a:t>
            </a:r>
            <a:r>
              <a:rPr lang="en-US" dirty="0" err="1" smtClean="0"/>
              <a:t>Pierro</a:t>
            </a:r>
            <a:r>
              <a:rPr lang="en-US" dirty="0" smtClean="0"/>
              <a:t> et al, </a:t>
            </a:r>
            <a:r>
              <a:rPr lang="en-US" i="1" dirty="0" smtClean="0"/>
              <a:t>IEEE TNS </a:t>
            </a:r>
            <a:r>
              <a:rPr lang="en-US" dirty="0" smtClean="0"/>
              <a:t>2007</a:t>
            </a:r>
          </a:p>
          <a:p>
            <a:pPr lvl="2"/>
            <a:r>
              <a:rPr lang="en-US" dirty="0" smtClean="0"/>
              <a:t>Salomon et al, </a:t>
            </a:r>
            <a:r>
              <a:rPr lang="en-US" i="1" dirty="0" smtClean="0"/>
              <a:t>SNM</a:t>
            </a:r>
            <a:r>
              <a:rPr lang="en-US" dirty="0" smtClean="0"/>
              <a:t> 2009</a:t>
            </a:r>
          </a:p>
          <a:p>
            <a:pPr lvl="1"/>
            <a:endParaRPr lang="nl-BE" dirty="0"/>
          </a:p>
        </p:txBody>
      </p:sp>
      <p:grpSp>
        <p:nvGrpSpPr>
          <p:cNvPr id="6" name="Groep 5"/>
          <p:cNvGrpSpPr/>
          <p:nvPr/>
        </p:nvGrpSpPr>
        <p:grpSpPr>
          <a:xfrm>
            <a:off x="4607778" y="3836024"/>
            <a:ext cx="4066120" cy="1864412"/>
            <a:chOff x="4581144" y="4251960"/>
            <a:chExt cx="4066120" cy="1864412"/>
          </a:xfrm>
        </p:grpSpPr>
        <p:sp>
          <p:nvSpPr>
            <p:cNvPr id="5" name="PIJL-LINKS 4"/>
            <p:cNvSpPr/>
            <p:nvPr/>
          </p:nvSpPr>
          <p:spPr bwMode="auto">
            <a:xfrm>
              <a:off x="4581144" y="5824728"/>
              <a:ext cx="1655064" cy="291644"/>
            </a:xfrm>
            <a:prstGeom prst="leftArrow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nl-BE" sz="2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4" name="Tekstvak 3"/>
            <p:cNvSpPr txBox="1"/>
            <p:nvPr/>
          </p:nvSpPr>
          <p:spPr>
            <a:xfrm>
              <a:off x="6208776" y="4251960"/>
              <a:ext cx="2438488" cy="179126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MLAA</a:t>
              </a:r>
            </a:p>
            <a:p>
              <a:r>
                <a:rPr lang="en-US" dirty="0" smtClean="0">
                  <a:solidFill>
                    <a:schemeClr val="tx1"/>
                  </a:solidFill>
                </a:rPr>
                <a:t> = ML recon of</a:t>
              </a:r>
            </a:p>
            <a:p>
              <a:pPr marL="447675">
                <a:buFont typeface="Arial" pitchFamily="34" charset="0"/>
                <a:buChar char="•"/>
              </a:pPr>
              <a:r>
                <a:rPr lang="en-US" dirty="0" smtClean="0">
                  <a:solidFill>
                    <a:schemeClr val="tx1"/>
                  </a:solidFill>
                </a:rPr>
                <a:t>  Attenuation</a:t>
              </a:r>
            </a:p>
            <a:p>
              <a:pPr marL="447675">
                <a:buFont typeface="Arial" pitchFamily="34" charset="0"/>
                <a:buChar char="•"/>
              </a:pPr>
              <a:r>
                <a:rPr lang="en-US" dirty="0" smtClean="0">
                  <a:solidFill>
                    <a:schemeClr val="tx1"/>
                  </a:solidFill>
                </a:rPr>
                <a:t>  Activity</a:t>
              </a:r>
              <a:endParaRPr lang="nl-BE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10790" y="3278315"/>
            <a:ext cx="161101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MLAA algorithm</a:t>
            </a:r>
            <a:endParaRPr lang="nl-BE" dirty="0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08381" y="1360297"/>
            <a:ext cx="1615830" cy="163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Afgeronde rechthoek 7"/>
          <p:cNvSpPr/>
          <p:nvPr/>
        </p:nvSpPr>
        <p:spPr bwMode="auto">
          <a:xfrm>
            <a:off x="2486512" y="1257616"/>
            <a:ext cx="923577" cy="35623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threshold</a:t>
            </a:r>
          </a:p>
        </p:txBody>
      </p:sp>
      <p:sp>
        <p:nvSpPr>
          <p:cNvPr id="9" name="Afgeronde rechthoek 8"/>
          <p:cNvSpPr/>
          <p:nvPr/>
        </p:nvSpPr>
        <p:spPr bwMode="auto">
          <a:xfrm>
            <a:off x="2367640" y="3150682"/>
            <a:ext cx="1097313" cy="35623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backproject</a:t>
            </a:r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1706" y="3267503"/>
            <a:ext cx="1611012" cy="161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67640" y="3977831"/>
            <a:ext cx="1594794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Afgeronde rechthoek 10"/>
          <p:cNvSpPr/>
          <p:nvPr/>
        </p:nvSpPr>
        <p:spPr bwMode="auto">
          <a:xfrm>
            <a:off x="2697641" y="3909210"/>
            <a:ext cx="923577" cy="35623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threshold</a:t>
            </a:r>
          </a:p>
        </p:txBody>
      </p:sp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580688" y="4878515"/>
            <a:ext cx="1594794" cy="1605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Afgeronde rechthoek 15"/>
          <p:cNvSpPr/>
          <p:nvPr/>
        </p:nvSpPr>
        <p:spPr bwMode="auto">
          <a:xfrm>
            <a:off x="2937794" y="4800600"/>
            <a:ext cx="923577" cy="35623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insert</a:t>
            </a:r>
          </a:p>
        </p:txBody>
      </p:sp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180076" y="3138863"/>
            <a:ext cx="1584199" cy="1605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1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180076" y="1131697"/>
            <a:ext cx="1594794" cy="1605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866310" y="1127271"/>
            <a:ext cx="161925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Afgeronde rechthoek 20"/>
          <p:cNvSpPr/>
          <p:nvPr/>
        </p:nvSpPr>
        <p:spPr bwMode="auto">
          <a:xfrm>
            <a:off x="5500116" y="3015610"/>
            <a:ext cx="1084897" cy="35623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attenuation</a:t>
            </a:r>
          </a:p>
        </p:txBody>
      </p:sp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890766" y="3138863"/>
            <a:ext cx="1594794" cy="1611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2" name="Picture 1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15933" y="1360298"/>
            <a:ext cx="1626785" cy="163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Afgeronde rechthoek 25"/>
          <p:cNvSpPr/>
          <p:nvPr/>
        </p:nvSpPr>
        <p:spPr bwMode="auto">
          <a:xfrm>
            <a:off x="688604" y="1257616"/>
            <a:ext cx="923577" cy="35623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given</a:t>
            </a:r>
          </a:p>
        </p:txBody>
      </p:sp>
      <p:sp>
        <p:nvSpPr>
          <p:cNvPr id="27" name="Afgeronde rechthoek 26"/>
          <p:cNvSpPr/>
          <p:nvPr/>
        </p:nvSpPr>
        <p:spPr bwMode="auto">
          <a:xfrm>
            <a:off x="688604" y="3150682"/>
            <a:ext cx="923577" cy="35623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given</a:t>
            </a:r>
          </a:p>
        </p:txBody>
      </p:sp>
      <p:pic>
        <p:nvPicPr>
          <p:cNvPr id="28" name="Picture 1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077373" y="4878515"/>
            <a:ext cx="1626785" cy="163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Afgeronde rechthoek 12"/>
          <p:cNvSpPr/>
          <p:nvPr/>
        </p:nvSpPr>
        <p:spPr bwMode="auto">
          <a:xfrm>
            <a:off x="6441480" y="6179309"/>
            <a:ext cx="923577" cy="35623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given</a:t>
            </a:r>
          </a:p>
        </p:txBody>
      </p:sp>
      <p:sp>
        <p:nvSpPr>
          <p:cNvPr id="33" name="PIJL-OMLAAG 32"/>
          <p:cNvSpPr/>
          <p:nvPr/>
        </p:nvSpPr>
        <p:spPr bwMode="auto">
          <a:xfrm>
            <a:off x="5158462" y="2722545"/>
            <a:ext cx="341654" cy="540027"/>
          </a:xfrm>
          <a:prstGeom prst="downArrow">
            <a:avLst/>
          </a:prstGeom>
          <a:solidFill>
            <a:schemeClr val="accent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2063" name="Picture 15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982240" y="1257616"/>
            <a:ext cx="1602773" cy="158089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" name="Afgeronde rechthoek 30"/>
          <p:cNvSpPr/>
          <p:nvPr/>
        </p:nvSpPr>
        <p:spPr bwMode="auto">
          <a:xfrm>
            <a:off x="5180076" y="953580"/>
            <a:ext cx="1084897" cy="35623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MLTR</a:t>
            </a:r>
          </a:p>
        </p:txBody>
      </p:sp>
      <p:sp>
        <p:nvSpPr>
          <p:cNvPr id="34" name="PIJL-OMLAAG 33"/>
          <p:cNvSpPr/>
          <p:nvPr/>
        </p:nvSpPr>
        <p:spPr bwMode="auto">
          <a:xfrm rot="12363994">
            <a:off x="6725583" y="2476373"/>
            <a:ext cx="326913" cy="786114"/>
          </a:xfrm>
          <a:prstGeom prst="downArrow">
            <a:avLst/>
          </a:prstGeom>
          <a:solidFill>
            <a:schemeClr val="accent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35" name="PIJL-OMLAAG 34"/>
          <p:cNvSpPr/>
          <p:nvPr/>
        </p:nvSpPr>
        <p:spPr bwMode="auto">
          <a:xfrm>
            <a:off x="8246173" y="2737377"/>
            <a:ext cx="341654" cy="540027"/>
          </a:xfrm>
          <a:prstGeom prst="downArrow">
            <a:avLst/>
          </a:prstGeom>
          <a:solidFill>
            <a:schemeClr val="accent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24" name="Afgeronde rechthoek 23"/>
          <p:cNvSpPr/>
          <p:nvPr/>
        </p:nvSpPr>
        <p:spPr bwMode="auto">
          <a:xfrm>
            <a:off x="7161276" y="3015610"/>
            <a:ext cx="1084897" cy="35623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“blank”</a:t>
            </a:r>
          </a:p>
        </p:txBody>
      </p:sp>
      <p:sp>
        <p:nvSpPr>
          <p:cNvPr id="36" name="PIJL-OMLAAG 35"/>
          <p:cNvSpPr/>
          <p:nvPr/>
        </p:nvSpPr>
        <p:spPr bwMode="auto">
          <a:xfrm rot="8536851">
            <a:off x="6681282" y="2453057"/>
            <a:ext cx="277009" cy="815876"/>
          </a:xfrm>
          <a:prstGeom prst="downArrow">
            <a:avLst/>
          </a:prstGeom>
          <a:solidFill>
            <a:schemeClr val="accent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23" name="Afgeronde rechthoek 22"/>
          <p:cNvSpPr/>
          <p:nvPr/>
        </p:nvSpPr>
        <p:spPr bwMode="auto">
          <a:xfrm>
            <a:off x="7161276" y="953580"/>
            <a:ext cx="1084897" cy="35623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MLEM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6" grpId="0" animBg="1"/>
      <p:bldP spid="21" grpId="0" animBg="1"/>
      <p:bldP spid="13" grpId="0" animBg="1"/>
      <p:bldP spid="33" grpId="0" animBg="1"/>
      <p:bldP spid="31" grpId="0" animBg="1"/>
      <p:bldP spid="34" grpId="0" animBg="1"/>
      <p:bldP spid="35" grpId="0" animBg="1"/>
      <p:bldP spid="24" grpId="0" animBg="1"/>
      <p:bldP spid="36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MLAA: priors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719138" y="1440000"/>
            <a:ext cx="7920000" cy="4678362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emission update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 smtClean="0">
                <a:solidFill>
                  <a:schemeClr val="accent6"/>
                </a:solidFill>
              </a:rPr>
              <a:t>smoothing Markov prior: relative difference prior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>
                <a:solidFill>
                  <a:schemeClr val="tx1"/>
                </a:solidFill>
              </a:rPr>
              <a:t>attenuation update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 smtClean="0">
                <a:solidFill>
                  <a:schemeClr val="accent6"/>
                </a:solidFill>
              </a:rPr>
              <a:t>smoothing Markov prior: relative difference prior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 smtClean="0">
                <a:solidFill>
                  <a:srgbClr val="7030A0"/>
                </a:solidFill>
              </a:rPr>
              <a:t>intensity prior, favoring</a:t>
            </a:r>
          </a:p>
          <a:p>
            <a:pPr lvl="2">
              <a:buFont typeface="Wingdings" pitchFamily="2" charset="2"/>
              <a:buChar char="§"/>
            </a:pPr>
            <a:r>
              <a:rPr lang="en-US" sz="2000" dirty="0" smtClean="0">
                <a:solidFill>
                  <a:srgbClr val="7030A0"/>
                </a:solidFill>
              </a:rPr>
              <a:t>air</a:t>
            </a:r>
          </a:p>
          <a:p>
            <a:pPr lvl="2">
              <a:buFont typeface="Wingdings" pitchFamily="2" charset="2"/>
              <a:buChar char="§"/>
            </a:pPr>
            <a:r>
              <a:rPr lang="en-US" sz="2000" dirty="0" smtClean="0">
                <a:solidFill>
                  <a:srgbClr val="7030A0"/>
                </a:solidFill>
              </a:rPr>
              <a:t>tissue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RESULTS: patient PET/CT images</a:t>
            </a:r>
            <a:endParaRPr lang="nl-BE" dirty="0"/>
          </a:p>
        </p:txBody>
      </p:sp>
      <p:pic>
        <p:nvPicPr>
          <p:cNvPr id="3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448" y="1400366"/>
            <a:ext cx="2124075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44674" y="1400366"/>
            <a:ext cx="2124075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24959" y="1409891"/>
            <a:ext cx="2124075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5448" y="2854262"/>
            <a:ext cx="214312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335149" y="2854262"/>
            <a:ext cx="214312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615434" y="2854262"/>
            <a:ext cx="214312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785991" y="1400366"/>
            <a:ext cx="2105025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793648" y="2854262"/>
            <a:ext cx="2114550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978191" y="4126421"/>
            <a:ext cx="2124075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5" name="Afgeronde rechthoek 14"/>
          <p:cNvSpPr/>
          <p:nvPr/>
        </p:nvSpPr>
        <p:spPr bwMode="auto">
          <a:xfrm>
            <a:off x="719138" y="1108522"/>
            <a:ext cx="923577" cy="30136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CT-map</a:t>
            </a:r>
          </a:p>
        </p:txBody>
      </p:sp>
      <p:sp>
        <p:nvSpPr>
          <p:cNvPr id="16" name="Afgeronde rechthoek 15"/>
          <p:cNvSpPr/>
          <p:nvPr/>
        </p:nvSpPr>
        <p:spPr bwMode="auto">
          <a:xfrm>
            <a:off x="2953479" y="1108522"/>
            <a:ext cx="923577" cy="30136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truncated</a:t>
            </a:r>
          </a:p>
        </p:txBody>
      </p:sp>
      <p:sp>
        <p:nvSpPr>
          <p:cNvPr id="17" name="Afgeronde rechthoek 16"/>
          <p:cNvSpPr/>
          <p:nvPr/>
        </p:nvSpPr>
        <p:spPr bwMode="auto">
          <a:xfrm>
            <a:off x="4754880" y="1108523"/>
            <a:ext cx="1792224" cy="291844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MLAA-attenuation</a:t>
            </a:r>
          </a:p>
        </p:txBody>
      </p:sp>
      <p:sp>
        <p:nvSpPr>
          <p:cNvPr id="18" name="Afgeronde rechthoek 17"/>
          <p:cNvSpPr/>
          <p:nvPr/>
        </p:nvSpPr>
        <p:spPr bwMode="auto">
          <a:xfrm>
            <a:off x="7141464" y="1108523"/>
            <a:ext cx="1497674" cy="291844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MLAA-activity</a:t>
            </a:r>
          </a:p>
        </p:txBody>
      </p:sp>
      <p:sp>
        <p:nvSpPr>
          <p:cNvPr id="19" name="Afgeronde rechthoek 18"/>
          <p:cNvSpPr/>
          <p:nvPr/>
        </p:nvSpPr>
        <p:spPr bwMode="auto">
          <a:xfrm>
            <a:off x="6547104" y="6017516"/>
            <a:ext cx="594360" cy="30136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MIP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02034" y="1587425"/>
            <a:ext cx="3324225" cy="3330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02034" y="1587425"/>
            <a:ext cx="3324225" cy="3330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RESULTS: patient PET/CT images</a:t>
            </a:r>
            <a:endParaRPr lang="nl-BE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9768" y="1092200"/>
            <a:ext cx="3372017" cy="1873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9768" y="4911650"/>
            <a:ext cx="5047488" cy="1854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29768" y="2993033"/>
            <a:ext cx="5047488" cy="1854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Afgeronde rechthoek 19"/>
          <p:cNvSpPr/>
          <p:nvPr/>
        </p:nvSpPr>
        <p:spPr bwMode="auto">
          <a:xfrm>
            <a:off x="53790" y="958695"/>
            <a:ext cx="923577" cy="30136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CT-map</a:t>
            </a:r>
          </a:p>
        </p:txBody>
      </p:sp>
      <p:sp>
        <p:nvSpPr>
          <p:cNvPr id="21" name="Afgeronde rechthoek 20"/>
          <p:cNvSpPr/>
          <p:nvPr/>
        </p:nvSpPr>
        <p:spPr bwMode="auto">
          <a:xfrm>
            <a:off x="53790" y="2993033"/>
            <a:ext cx="923577" cy="30136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C00000"/>
                </a:solidFill>
              </a:rPr>
              <a:t>truncated</a:t>
            </a:r>
          </a:p>
        </p:txBody>
      </p:sp>
      <p:sp>
        <p:nvSpPr>
          <p:cNvPr id="22" name="Afgeronde rechthoek 21"/>
          <p:cNvSpPr/>
          <p:nvPr/>
        </p:nvSpPr>
        <p:spPr bwMode="auto">
          <a:xfrm>
            <a:off x="53791" y="4911650"/>
            <a:ext cx="719138" cy="30136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chemeClr val="accent6"/>
                </a:solidFill>
              </a:rPr>
              <a:t>MLAA</a:t>
            </a:r>
          </a:p>
        </p:txBody>
      </p:sp>
      <p:sp>
        <p:nvSpPr>
          <p:cNvPr id="23" name="Afgeronde rechthoek 22"/>
          <p:cNvSpPr/>
          <p:nvPr/>
        </p:nvSpPr>
        <p:spPr bwMode="auto">
          <a:xfrm>
            <a:off x="3339996" y="958695"/>
            <a:ext cx="1853796" cy="30136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ref “clinical” OSEM</a:t>
            </a:r>
          </a:p>
        </p:txBody>
      </p:sp>
      <p:sp>
        <p:nvSpPr>
          <p:cNvPr id="24" name="Afgeronde rechthoek 23"/>
          <p:cNvSpPr/>
          <p:nvPr/>
        </p:nvSpPr>
        <p:spPr bwMode="auto">
          <a:xfrm>
            <a:off x="3901250" y="2655088"/>
            <a:ext cx="1700784" cy="30136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diff with ref OSEM</a:t>
            </a:r>
          </a:p>
        </p:txBody>
      </p:sp>
      <p:sp>
        <p:nvSpPr>
          <p:cNvPr id="25" name="Afgeronde rechthoek 24"/>
          <p:cNvSpPr/>
          <p:nvPr/>
        </p:nvSpPr>
        <p:spPr bwMode="auto">
          <a:xfrm>
            <a:off x="7888625" y="4696957"/>
            <a:ext cx="923577" cy="301369"/>
          </a:xfrm>
          <a:prstGeom prst="roundRect">
            <a:avLst/>
          </a:prstGeom>
          <a:solidFill>
            <a:schemeClr val="accent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SUV</a:t>
            </a:r>
          </a:p>
        </p:txBody>
      </p:sp>
      <p:sp>
        <p:nvSpPr>
          <p:cNvPr id="26" name="Afgeronde rechthoek 25"/>
          <p:cNvSpPr/>
          <p:nvPr/>
        </p:nvSpPr>
        <p:spPr bwMode="auto">
          <a:xfrm>
            <a:off x="5193792" y="1587425"/>
            <a:ext cx="923577" cy="301369"/>
          </a:xfrm>
          <a:prstGeom prst="roundRect">
            <a:avLst/>
          </a:prstGeom>
          <a:solidFill>
            <a:schemeClr val="accent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error in %</a:t>
            </a:r>
          </a:p>
        </p:txBody>
      </p:sp>
      <p:sp>
        <p:nvSpPr>
          <p:cNvPr id="31" name="Tekstvak 30"/>
          <p:cNvSpPr txBox="1"/>
          <p:nvPr/>
        </p:nvSpPr>
        <p:spPr>
          <a:xfrm>
            <a:off x="6537220" y="3625144"/>
            <a:ext cx="2274982" cy="701731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800" dirty="0" smtClean="0">
                <a:solidFill>
                  <a:schemeClr val="tx1"/>
                </a:solidFill>
              </a:rPr>
              <a:t>mean,</a:t>
            </a:r>
          </a:p>
          <a:p>
            <a:r>
              <a:rPr lang="en-US" sz="1800" dirty="0" smtClean="0">
                <a:solidFill>
                  <a:schemeClr val="tx1"/>
                </a:solidFill>
              </a:rPr>
              <a:t>10 and 90 percentile</a:t>
            </a:r>
          </a:p>
        </p:txBody>
      </p:sp>
      <p:sp>
        <p:nvSpPr>
          <p:cNvPr id="32" name="Afgeronde rechthoek 31"/>
          <p:cNvSpPr/>
          <p:nvPr/>
        </p:nvSpPr>
        <p:spPr bwMode="auto">
          <a:xfrm>
            <a:off x="8177349" y="2993032"/>
            <a:ext cx="923577" cy="30136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C00000"/>
                </a:solidFill>
              </a:rPr>
              <a:t>truncated</a:t>
            </a:r>
          </a:p>
        </p:txBody>
      </p:sp>
      <p:sp>
        <p:nvSpPr>
          <p:cNvPr id="33" name="Afgeronde rechthoek 32"/>
          <p:cNvSpPr/>
          <p:nvPr/>
        </p:nvSpPr>
        <p:spPr bwMode="auto">
          <a:xfrm>
            <a:off x="7458211" y="1888794"/>
            <a:ext cx="719138" cy="30136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chemeClr val="accent6"/>
                </a:solidFill>
              </a:rPr>
              <a:t>MLAA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4" grpId="0" animBg="1"/>
      <p:bldP spid="25" grpId="0" animBg="1"/>
      <p:bldP spid="26" grpId="0" animBg="1"/>
      <p:bldP spid="31" grpId="0" animBg="1"/>
      <p:bldP spid="32" grpId="0" animBg="1"/>
      <p:bldP spid="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RESULTS: segmented CT</a:t>
            </a:r>
            <a:endParaRPr lang="nl-BE" dirty="0"/>
          </a:p>
        </p:txBody>
      </p:sp>
      <p:pic>
        <p:nvPicPr>
          <p:cNvPr id="8" name="Picture 1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0401" y="4911650"/>
            <a:ext cx="5012803" cy="1854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0402" y="2993034"/>
            <a:ext cx="5012802" cy="1854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0401" y="1092199"/>
            <a:ext cx="3381384" cy="1873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602034" y="1587425"/>
            <a:ext cx="3295650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Afgeronde rechthoek 16"/>
          <p:cNvSpPr/>
          <p:nvPr/>
        </p:nvSpPr>
        <p:spPr bwMode="auto">
          <a:xfrm>
            <a:off x="3339996" y="958695"/>
            <a:ext cx="1853796" cy="30136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ref “clinical” OSEM</a:t>
            </a:r>
          </a:p>
        </p:txBody>
      </p:sp>
      <p:sp>
        <p:nvSpPr>
          <p:cNvPr id="18" name="Afgeronde rechthoek 17"/>
          <p:cNvSpPr/>
          <p:nvPr/>
        </p:nvSpPr>
        <p:spPr bwMode="auto">
          <a:xfrm>
            <a:off x="3901250" y="2655088"/>
            <a:ext cx="1700784" cy="30136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diff with ref OSEM</a:t>
            </a:r>
          </a:p>
        </p:txBody>
      </p:sp>
      <p:sp>
        <p:nvSpPr>
          <p:cNvPr id="19" name="Afgeronde rechthoek 18"/>
          <p:cNvSpPr/>
          <p:nvPr/>
        </p:nvSpPr>
        <p:spPr bwMode="auto">
          <a:xfrm>
            <a:off x="7888625" y="4696957"/>
            <a:ext cx="923577" cy="301369"/>
          </a:xfrm>
          <a:prstGeom prst="roundRect">
            <a:avLst/>
          </a:prstGeom>
          <a:solidFill>
            <a:schemeClr val="accent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SUV</a:t>
            </a:r>
          </a:p>
        </p:txBody>
      </p:sp>
      <p:sp>
        <p:nvSpPr>
          <p:cNvPr id="20" name="Afgeronde rechthoek 19"/>
          <p:cNvSpPr/>
          <p:nvPr/>
        </p:nvSpPr>
        <p:spPr bwMode="auto">
          <a:xfrm>
            <a:off x="5477256" y="1436740"/>
            <a:ext cx="923577" cy="301369"/>
          </a:xfrm>
          <a:prstGeom prst="roundRect">
            <a:avLst/>
          </a:prstGeom>
          <a:solidFill>
            <a:schemeClr val="accent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error in %</a:t>
            </a:r>
          </a:p>
        </p:txBody>
      </p:sp>
      <p:sp>
        <p:nvSpPr>
          <p:cNvPr id="21" name="Afgeronde rechthoek 20"/>
          <p:cNvSpPr/>
          <p:nvPr/>
        </p:nvSpPr>
        <p:spPr bwMode="auto">
          <a:xfrm>
            <a:off x="53790" y="958695"/>
            <a:ext cx="923577" cy="30136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CT-map</a:t>
            </a:r>
          </a:p>
        </p:txBody>
      </p:sp>
      <p:sp>
        <p:nvSpPr>
          <p:cNvPr id="22" name="Afgeronde rechthoek 21"/>
          <p:cNvSpPr/>
          <p:nvPr/>
        </p:nvSpPr>
        <p:spPr bwMode="auto">
          <a:xfrm>
            <a:off x="53790" y="2993033"/>
            <a:ext cx="923577" cy="30136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C00000"/>
                </a:solidFill>
              </a:rPr>
              <a:t>truncated</a:t>
            </a:r>
          </a:p>
        </p:txBody>
      </p:sp>
      <p:sp>
        <p:nvSpPr>
          <p:cNvPr id="23" name="Afgeronde rechthoek 22"/>
          <p:cNvSpPr/>
          <p:nvPr/>
        </p:nvSpPr>
        <p:spPr bwMode="auto">
          <a:xfrm>
            <a:off x="53791" y="4911650"/>
            <a:ext cx="719138" cy="30136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chemeClr val="accent6"/>
                </a:solidFill>
              </a:rPr>
              <a:t>MLAA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2403" y="2202752"/>
            <a:ext cx="179070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13301" y="2202752"/>
            <a:ext cx="179070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65761" y="2202752"/>
            <a:ext cx="179070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09229" y="2211896"/>
            <a:ext cx="179070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RESULTS: scatter correction</a:t>
            </a:r>
            <a:endParaRPr lang="nl-BE" dirty="0"/>
          </a:p>
        </p:txBody>
      </p:sp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72403" y="979551"/>
            <a:ext cx="1800225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99704" y="988695"/>
            <a:ext cx="1800225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303776" y="979551"/>
            <a:ext cx="1800225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5" name="Picture 13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765761" y="979551"/>
            <a:ext cx="1800225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7" name="Picture 15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423922" y="3587115"/>
            <a:ext cx="179070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88" name="Picture 16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910328" y="3577971"/>
            <a:ext cx="179070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89" name="Picture 1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305638" y="3577971"/>
            <a:ext cx="179070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86" name="Picture 14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94741" y="3577971"/>
            <a:ext cx="179070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" name="Afgeronde rechthoek 18"/>
          <p:cNvSpPr/>
          <p:nvPr/>
        </p:nvSpPr>
        <p:spPr bwMode="auto">
          <a:xfrm>
            <a:off x="594741" y="778131"/>
            <a:ext cx="923577" cy="30136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CT-map</a:t>
            </a:r>
          </a:p>
        </p:txBody>
      </p:sp>
      <p:sp>
        <p:nvSpPr>
          <p:cNvPr id="20" name="Afgeronde rechthoek 19"/>
          <p:cNvSpPr/>
          <p:nvPr/>
        </p:nvSpPr>
        <p:spPr bwMode="auto">
          <a:xfrm>
            <a:off x="2642761" y="778131"/>
            <a:ext cx="923577" cy="30136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truncated</a:t>
            </a:r>
          </a:p>
        </p:txBody>
      </p:sp>
      <p:sp>
        <p:nvSpPr>
          <p:cNvPr id="21" name="Afgeronde rechthoek 20"/>
          <p:cNvSpPr/>
          <p:nvPr/>
        </p:nvSpPr>
        <p:spPr bwMode="auto">
          <a:xfrm>
            <a:off x="4313301" y="556666"/>
            <a:ext cx="1790700" cy="522834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>
              <a:spcBef>
                <a:spcPts val="0"/>
              </a:spcBef>
            </a:pPr>
            <a:r>
              <a:rPr lang="en-US" sz="1600" dirty="0" smtClean="0">
                <a:solidFill>
                  <a:srgbClr val="000000"/>
                </a:solidFill>
              </a:rPr>
              <a:t>MLAA </a:t>
            </a:r>
            <a:r>
              <a:rPr lang="en-US" sz="1600" b="1" dirty="0" smtClean="0">
                <a:solidFill>
                  <a:srgbClr val="000000"/>
                </a:solidFill>
              </a:rPr>
              <a:t>with</a:t>
            </a:r>
          </a:p>
          <a:p>
            <a:pPr lvl="0" algn="ctr">
              <a:spcBef>
                <a:spcPts val="0"/>
              </a:spcBef>
            </a:pPr>
            <a:r>
              <a:rPr lang="en-US" sz="1600" dirty="0" smtClean="0">
                <a:solidFill>
                  <a:srgbClr val="000000"/>
                </a:solidFill>
              </a:rPr>
              <a:t>scatter correction</a:t>
            </a:r>
          </a:p>
        </p:txBody>
      </p:sp>
      <p:sp>
        <p:nvSpPr>
          <p:cNvPr id="22" name="Afgeronde rechthoek 21"/>
          <p:cNvSpPr/>
          <p:nvPr/>
        </p:nvSpPr>
        <p:spPr bwMode="auto">
          <a:xfrm>
            <a:off x="6765761" y="556666"/>
            <a:ext cx="1790700" cy="522834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>
              <a:spcBef>
                <a:spcPts val="0"/>
              </a:spcBef>
            </a:pPr>
            <a:r>
              <a:rPr lang="en-US" sz="1600" dirty="0" smtClean="0">
                <a:solidFill>
                  <a:srgbClr val="000000"/>
                </a:solidFill>
              </a:rPr>
              <a:t>MLAA </a:t>
            </a:r>
            <a:r>
              <a:rPr lang="en-US" sz="1600" b="1" dirty="0" smtClean="0">
                <a:solidFill>
                  <a:srgbClr val="C00000"/>
                </a:solidFill>
              </a:rPr>
              <a:t>without</a:t>
            </a:r>
          </a:p>
          <a:p>
            <a:pPr lvl="0" algn="ctr">
              <a:spcBef>
                <a:spcPts val="0"/>
              </a:spcBef>
            </a:pPr>
            <a:r>
              <a:rPr lang="en-US" sz="1600" dirty="0" smtClean="0">
                <a:solidFill>
                  <a:srgbClr val="000000"/>
                </a:solidFill>
              </a:rPr>
              <a:t>scatter correction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1" animBg="1"/>
      <p:bldP spid="20" grpId="2" animBg="1"/>
      <p:bldP spid="21" grpId="1" animBg="1"/>
      <p:bldP spid="22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3" name="Picture 2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0636" y="1544101"/>
            <a:ext cx="2828595" cy="2066606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NCAT phantom with cold objects </a:t>
            </a:r>
            <a:endParaRPr lang="nl-BE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6193" y="1538851"/>
            <a:ext cx="146388" cy="1265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6191" y="3320848"/>
            <a:ext cx="2833040" cy="895551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914127" y="1456848"/>
            <a:ext cx="2815818" cy="2006378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729945" y="1515840"/>
            <a:ext cx="154999" cy="1283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914127" y="3316915"/>
            <a:ext cx="2824429" cy="886939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</p:pic>
      <p:sp>
        <p:nvSpPr>
          <p:cNvPr id="12" name="Tekstvak 11"/>
          <p:cNvSpPr txBox="1"/>
          <p:nvPr/>
        </p:nvSpPr>
        <p:spPr>
          <a:xfrm>
            <a:off x="516193" y="1079500"/>
            <a:ext cx="2531807" cy="4616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attenuation map</a:t>
            </a:r>
          </a:p>
        </p:txBody>
      </p:sp>
      <p:sp>
        <p:nvSpPr>
          <p:cNvPr id="13" name="Tekstvak 12"/>
          <p:cNvSpPr txBox="1"/>
          <p:nvPr/>
        </p:nvSpPr>
        <p:spPr>
          <a:xfrm>
            <a:off x="6409059" y="1080578"/>
            <a:ext cx="1958193" cy="4616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radio-activity</a:t>
            </a:r>
          </a:p>
        </p:txBody>
      </p:sp>
      <p:sp>
        <p:nvSpPr>
          <p:cNvPr id="18" name="Tekstvak 17"/>
          <p:cNvSpPr txBox="1"/>
          <p:nvPr/>
        </p:nvSpPr>
        <p:spPr>
          <a:xfrm>
            <a:off x="4163607" y="1079500"/>
            <a:ext cx="1564531" cy="4616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FF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truncation</a:t>
            </a:r>
          </a:p>
        </p:txBody>
      </p:sp>
      <p:pic>
        <p:nvPicPr>
          <p:cNvPr id="3087" name="Picture 1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40574" y="4065318"/>
            <a:ext cx="2447108" cy="976307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</p:pic>
      <p:pic>
        <p:nvPicPr>
          <p:cNvPr id="3088" name="Picture 16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308307" y="4828682"/>
            <a:ext cx="2383711" cy="988986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</p:pic>
      <p:pic>
        <p:nvPicPr>
          <p:cNvPr id="3089" name="Picture 17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764915" y="1546692"/>
            <a:ext cx="2076314" cy="176486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094" name="Picture 22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692018" y="3304370"/>
            <a:ext cx="2222109" cy="87982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096" name="Picture 24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912129" y="4416069"/>
            <a:ext cx="1929100" cy="82522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0" name="Tekstvak 19"/>
          <p:cNvSpPr txBox="1"/>
          <p:nvPr/>
        </p:nvSpPr>
        <p:spPr>
          <a:xfrm>
            <a:off x="516193" y="5867586"/>
            <a:ext cx="7731695" cy="90486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tabLst>
                <a:tab pos="3584575" algn="l"/>
                <a:tab pos="4572000" algn="l"/>
              </a:tabLst>
            </a:pPr>
            <a:r>
              <a:rPr lang="en-US" dirty="0" smtClean="0">
                <a:solidFill>
                  <a:schemeClr val="tx1"/>
                </a:solidFill>
              </a:rPr>
              <a:t>3 bars: </a:t>
            </a:r>
            <a:r>
              <a:rPr lang="en-US" dirty="0" smtClean="0">
                <a:solidFill>
                  <a:schemeClr val="tx1"/>
                </a:solidFill>
                <a:latin typeface="Symbol" pitchFamily="18" charset="2"/>
              </a:rPr>
              <a:t>F</a:t>
            </a:r>
            <a:r>
              <a:rPr lang="en-US" dirty="0" smtClean="0">
                <a:solidFill>
                  <a:schemeClr val="tx1"/>
                </a:solidFill>
              </a:rPr>
              <a:t> 10mm:  (0.2,	0.15,	0.095) /cm</a:t>
            </a:r>
          </a:p>
          <a:p>
            <a:pPr>
              <a:tabLst>
                <a:tab pos="3584575" algn="l"/>
                <a:tab pos="4572000" algn="l"/>
              </a:tabLst>
            </a:pPr>
            <a:r>
              <a:rPr lang="en-US" dirty="0" smtClean="0">
                <a:solidFill>
                  <a:schemeClr val="tx1"/>
                </a:solidFill>
              </a:rPr>
              <a:t>3 bars: </a:t>
            </a:r>
            <a:r>
              <a:rPr lang="en-US" dirty="0" smtClean="0">
                <a:solidFill>
                  <a:schemeClr val="tx1"/>
                </a:solidFill>
                <a:latin typeface="Symbol" pitchFamily="18" charset="2"/>
              </a:rPr>
              <a:t>F</a:t>
            </a:r>
            <a:r>
              <a:rPr lang="en-US" dirty="0" smtClean="0">
                <a:solidFill>
                  <a:schemeClr val="tx1"/>
                </a:solidFill>
              </a:rPr>
              <a:t> 6 mm:   (0.095,	0.08,	0.06)  /cm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8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NCAT phantom with cold objects </a:t>
            </a:r>
            <a:endParaRPr lang="nl-BE" dirty="0"/>
          </a:p>
        </p:txBody>
      </p:sp>
      <p:sp>
        <p:nvSpPr>
          <p:cNvPr id="5" name="Tekstvak 4"/>
          <p:cNvSpPr txBox="1"/>
          <p:nvPr/>
        </p:nvSpPr>
        <p:spPr>
          <a:xfrm>
            <a:off x="2279983" y="1311410"/>
            <a:ext cx="4600487" cy="4616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simulated noisy PET projections</a:t>
            </a:r>
          </a:p>
        </p:txBody>
      </p:sp>
      <p:sp>
        <p:nvSpPr>
          <p:cNvPr id="6" name="Tekstvak 5"/>
          <p:cNvSpPr txBox="1"/>
          <p:nvPr/>
        </p:nvSpPr>
        <p:spPr>
          <a:xfrm>
            <a:off x="958362" y="5440510"/>
            <a:ext cx="7271237" cy="113877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</a:rPr>
              <a:t>Siemens </a:t>
            </a:r>
            <a:r>
              <a:rPr lang="en-US" sz="2000" dirty="0" err="1" smtClean="0">
                <a:solidFill>
                  <a:schemeClr val="tx1"/>
                </a:solidFill>
              </a:rPr>
              <a:t>TruePoint</a:t>
            </a:r>
            <a:r>
              <a:rPr lang="en-US" sz="2000" dirty="0" smtClean="0">
                <a:solidFill>
                  <a:schemeClr val="tx1"/>
                </a:solidFill>
              </a:rPr>
              <a:t> PET system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  7 “segments” (= sinogram sets with different obliqueness)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  maximum count/pixel = 15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38799" y="1861778"/>
            <a:ext cx="2085975" cy="349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43062" y="1871303"/>
            <a:ext cx="2085975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4483" y="1861778"/>
            <a:ext cx="2095500" cy="349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98271" y="1857016"/>
            <a:ext cx="2095500" cy="3505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NCAT phantom with cold objects </a:t>
            </a:r>
            <a:endParaRPr lang="nl-BE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1527" y="1584805"/>
            <a:ext cx="212407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83814" y="1584805"/>
            <a:ext cx="212407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2002" y="3227317"/>
            <a:ext cx="2143125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74289" y="3227317"/>
            <a:ext cx="2143125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79639" y="4861704"/>
            <a:ext cx="1847850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521926" y="4861704"/>
            <a:ext cx="1847850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662779" y="1594330"/>
            <a:ext cx="2133600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12" name="Picture 16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705642" y="3227317"/>
            <a:ext cx="2047875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13" name="Picture 17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900904" y="4861704"/>
            <a:ext cx="1657350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ekstvak 18"/>
          <p:cNvSpPr txBox="1"/>
          <p:nvPr/>
        </p:nvSpPr>
        <p:spPr>
          <a:xfrm>
            <a:off x="692046" y="1103235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TRUE</a:t>
            </a:r>
            <a:endParaRPr lang="nl-BE" dirty="0">
              <a:solidFill>
                <a:schemeClr val="tx1"/>
              </a:solidFill>
            </a:endParaRPr>
          </a:p>
        </p:txBody>
      </p:sp>
      <p:sp>
        <p:nvSpPr>
          <p:cNvPr id="20" name="Tekstvak 19"/>
          <p:cNvSpPr txBox="1"/>
          <p:nvPr/>
        </p:nvSpPr>
        <p:spPr>
          <a:xfrm>
            <a:off x="2415152" y="1103235"/>
            <a:ext cx="20613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TRUNCATED</a:t>
            </a:r>
            <a:endParaRPr lang="nl-BE" dirty="0">
              <a:solidFill>
                <a:schemeClr val="tx1"/>
              </a:solidFill>
            </a:endParaRPr>
          </a:p>
        </p:txBody>
      </p:sp>
      <p:sp>
        <p:nvSpPr>
          <p:cNvPr id="21" name="Tekstvak 20"/>
          <p:cNvSpPr txBox="1"/>
          <p:nvPr/>
        </p:nvSpPr>
        <p:spPr>
          <a:xfrm>
            <a:off x="5116270" y="1103235"/>
            <a:ext cx="1226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INITIAL</a:t>
            </a:r>
            <a:endParaRPr lang="nl-BE" dirty="0">
              <a:solidFill>
                <a:schemeClr val="tx1"/>
              </a:solidFill>
            </a:endParaRPr>
          </a:p>
        </p:txBody>
      </p:sp>
      <p:sp>
        <p:nvSpPr>
          <p:cNvPr id="22" name="Tekstvak 21"/>
          <p:cNvSpPr txBox="1"/>
          <p:nvPr/>
        </p:nvSpPr>
        <p:spPr>
          <a:xfrm>
            <a:off x="7443248" y="1103235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MLAA</a:t>
            </a:r>
            <a:endParaRPr lang="nl-BE" dirty="0">
              <a:solidFill>
                <a:schemeClr val="tx1"/>
              </a:solidFill>
            </a:endParaRPr>
          </a:p>
        </p:txBody>
      </p:sp>
      <p:pic>
        <p:nvPicPr>
          <p:cNvPr id="4114" name="Picture 18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32190" y="3587010"/>
            <a:ext cx="2800350" cy="1504950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5" name="Tekstvak 24"/>
          <p:cNvSpPr txBox="1"/>
          <p:nvPr/>
        </p:nvSpPr>
        <p:spPr>
          <a:xfrm>
            <a:off x="3149622" y="434262"/>
            <a:ext cx="2716534" cy="4616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attenuation maps</a:t>
            </a:r>
          </a:p>
        </p:txBody>
      </p:sp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883204" y="3227317"/>
            <a:ext cx="2085975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883204" y="4861704"/>
            <a:ext cx="2085975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883204" y="1597885"/>
            <a:ext cx="2085975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5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5396204" y="3563198"/>
            <a:ext cx="2714625" cy="15525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NCAT phantom with cold objects </a:t>
            </a:r>
            <a:endParaRPr lang="nl-BE" dirty="0"/>
          </a:p>
        </p:txBody>
      </p:sp>
      <p:sp>
        <p:nvSpPr>
          <p:cNvPr id="4" name="Tekstvak 3"/>
          <p:cNvSpPr txBox="1"/>
          <p:nvPr/>
        </p:nvSpPr>
        <p:spPr>
          <a:xfrm>
            <a:off x="2133600" y="434262"/>
            <a:ext cx="5015345" cy="4616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“clinical” OSEM, noisy case</a:t>
            </a:r>
          </a:p>
        </p:txBody>
      </p:sp>
      <p:sp>
        <p:nvSpPr>
          <p:cNvPr id="5" name="Tekstvak 4"/>
          <p:cNvSpPr txBox="1"/>
          <p:nvPr/>
        </p:nvSpPr>
        <p:spPr>
          <a:xfrm>
            <a:off x="763634" y="1079500"/>
            <a:ext cx="1964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OSEM with</a:t>
            </a:r>
          </a:p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true attenuation</a:t>
            </a:r>
            <a:endParaRPr lang="nl-BE" sz="2000" dirty="0">
              <a:solidFill>
                <a:schemeClr val="tx1"/>
              </a:solidFill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3128892" y="1067296"/>
            <a:ext cx="25907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OSEM with</a:t>
            </a:r>
          </a:p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truncated attenuation</a:t>
            </a:r>
            <a:endParaRPr lang="nl-BE" sz="2000" dirty="0">
              <a:solidFill>
                <a:schemeClr val="tx1"/>
              </a:solidFill>
            </a:endParaRPr>
          </a:p>
        </p:txBody>
      </p:sp>
      <p:sp>
        <p:nvSpPr>
          <p:cNvPr id="7" name="Tekstvak 6"/>
          <p:cNvSpPr txBox="1"/>
          <p:nvPr/>
        </p:nvSpPr>
        <p:spPr>
          <a:xfrm>
            <a:off x="6145830" y="1067296"/>
            <a:ext cx="22079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OSEM with</a:t>
            </a:r>
          </a:p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MLAA attenuation</a:t>
            </a:r>
            <a:endParaRPr lang="nl-BE" sz="2000" dirty="0">
              <a:solidFill>
                <a:schemeClr val="tx1"/>
              </a:solidFill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9138" y="1848941"/>
            <a:ext cx="206692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01378" y="1848941"/>
            <a:ext cx="206692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50241" y="1836737"/>
            <a:ext cx="206692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9138" y="3429000"/>
            <a:ext cx="206692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401378" y="3429000"/>
            <a:ext cx="206692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250241" y="3429000"/>
            <a:ext cx="206692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19138" y="5100066"/>
            <a:ext cx="206692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401378" y="5100066"/>
            <a:ext cx="206692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250241" y="5100066"/>
            <a:ext cx="206692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Afgeronde rechthoek 15"/>
          <p:cNvSpPr/>
          <p:nvPr/>
        </p:nvSpPr>
        <p:spPr bwMode="auto">
          <a:xfrm>
            <a:off x="328474" y="3184156"/>
            <a:ext cx="728055" cy="30136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slices</a:t>
            </a:r>
          </a:p>
        </p:txBody>
      </p:sp>
      <p:sp>
        <p:nvSpPr>
          <p:cNvPr id="17" name="Afgeronde rechthoek 16"/>
          <p:cNvSpPr/>
          <p:nvPr/>
        </p:nvSpPr>
        <p:spPr bwMode="auto">
          <a:xfrm>
            <a:off x="328474" y="4798697"/>
            <a:ext cx="728055" cy="301369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 smtClean="0">
                <a:solidFill>
                  <a:srgbClr val="000000"/>
                </a:solidFill>
              </a:rPr>
              <a:t>MIP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MLAA – based completion of the attenuation map</a:t>
            </a:r>
          </a:p>
          <a:p>
            <a:r>
              <a:rPr lang="en-US" dirty="0" smtClean="0"/>
              <a:t>works well for </a:t>
            </a:r>
            <a:r>
              <a:rPr lang="en-US" baseline="30000" dirty="0" smtClean="0"/>
              <a:t>18</a:t>
            </a:r>
            <a:r>
              <a:rPr lang="en-US" dirty="0" smtClean="0"/>
              <a:t>F-FDG whole body PET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 smtClean="0"/>
              <a:t>residual error &lt; 10% in 5 patient studies</a:t>
            </a:r>
          </a:p>
          <a:p>
            <a:r>
              <a:rPr lang="en-US" dirty="0" smtClean="0"/>
              <a:t>not sensitive to small segmentation errors</a:t>
            </a:r>
          </a:p>
          <a:p>
            <a:r>
              <a:rPr lang="en-US" dirty="0" smtClean="0"/>
              <a:t>not very sensitive to scatter correction</a:t>
            </a:r>
          </a:p>
          <a:p>
            <a:r>
              <a:rPr lang="en-US" dirty="0" smtClean="0"/>
              <a:t>can detect small cold attenuating objects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requires</a:t>
            </a:r>
          </a:p>
          <a:p>
            <a:r>
              <a:rPr lang="en-US" dirty="0" smtClean="0"/>
              <a:t>constraining of attenuation (and emission) update</a:t>
            </a:r>
          </a:p>
          <a:p>
            <a:r>
              <a:rPr lang="en-US" dirty="0" smtClean="0"/>
              <a:t>good initialization (sinogram </a:t>
            </a:r>
            <a:r>
              <a:rPr lang="en-US" dirty="0" err="1" smtClean="0"/>
              <a:t>thresholding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nl-B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009-corporate_kuleuven_liggend-versie2007-9sept">
  <a:themeElements>
    <a:clrScheme name="corporate_kuleuven_liggen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orporate_kuleuven_liggen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nl-NL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nl-NL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orporate_kuleuven_liggend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rporate_kuleuven_liggend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rporate_kuleuven_liggend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rporate_kuleuven_liggend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rporate_kuleuven_liggend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rporate_kuleuven_liggend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rporate_kuleuven_liggend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rporate_kuleuven_liggend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rporate_kuleuven_liggend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rporate_kuleuven_liggend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rporate_kuleuven_liggend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rporate_kuleuven_liggend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009-Corporate_Kuleuven_liggend_witte achtergrond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009-Corporate_Kuleuven_liggend_blauwe achtergrond">
  <a:themeElements>
    <a:clrScheme name="corporate_kuleuven_liggen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orporate_kuleuven_liggen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nl-NL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nl-NL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orporate_kuleuven_liggend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rporate_kuleuven_liggend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rporate_kuleuven_liggend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rporate_kuleuven_liggend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rporate_kuleuven_liggend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rporate_kuleuven_liggend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rporate_kuleuven_liggend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rporate_kuleuven_liggend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rporate_kuleuven_liggend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rporate_kuleuven_liggend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rporate_kuleuven_liggend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rporate_kuleuven_liggend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-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-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2009-corporate_kuleuven_liggend-versie2007-9sept</Template>
  <TotalTime>864</TotalTime>
  <Words>426</Words>
  <Application>Microsoft Office PowerPoint</Application>
  <PresentationFormat>Diavoorstelling (4:3)</PresentationFormat>
  <Paragraphs>138</Paragraphs>
  <Slides>15</Slides>
  <Notes>0</Notes>
  <HiddenSlides>0</HiddenSlides>
  <MMClips>0</MMClips>
  <ScaleCrop>false</ScaleCrop>
  <HeadingPairs>
    <vt:vector size="4" baseType="variant">
      <vt:variant>
        <vt:lpstr>Thema</vt:lpstr>
      </vt:variant>
      <vt:variant>
        <vt:i4>3</vt:i4>
      </vt:variant>
      <vt:variant>
        <vt:lpstr>Diatitels</vt:lpstr>
      </vt:variant>
      <vt:variant>
        <vt:i4>15</vt:i4>
      </vt:variant>
    </vt:vector>
  </HeadingPairs>
  <TitlesOfParts>
    <vt:vector size="18" baseType="lpstr">
      <vt:lpstr>2009-corporate_kuleuven_liggend-versie2007-9sept</vt:lpstr>
      <vt:lpstr>2009-Corporate_Kuleuven_liggend_witte achtergrond</vt:lpstr>
      <vt:lpstr>2009-Corporate_Kuleuven_liggend_blauwe achtergrond</vt:lpstr>
      <vt:lpstr>Completion of a Truncated Attenuation Image from the Attenuated PET Emission Data  Johan Nuyts, Christian Michel, Matthias Fenchel, Girish Bal, Charles Watson </vt:lpstr>
      <vt:lpstr>PET-MR: attenuation correction</vt:lpstr>
      <vt:lpstr>consistency, likelihood</vt:lpstr>
      <vt:lpstr>consistency, likelihood</vt:lpstr>
      <vt:lpstr>MLAA algorithm</vt:lpstr>
      <vt:lpstr>MLAA: priors</vt:lpstr>
      <vt:lpstr>RESULTS: patient PET/CT images</vt:lpstr>
      <vt:lpstr>RESULTS: patient PET/CT images</vt:lpstr>
      <vt:lpstr>RESULTS: segmented CT</vt:lpstr>
      <vt:lpstr>RESULTS: scatter correction</vt:lpstr>
      <vt:lpstr>NCAT phantom with cold objects </vt:lpstr>
      <vt:lpstr>NCAT phantom with cold objects </vt:lpstr>
      <vt:lpstr>NCAT phantom with cold objects </vt:lpstr>
      <vt:lpstr>NCAT phantom with cold objects </vt:lpstr>
      <vt:lpstr>Conclusion</vt:lpstr>
    </vt:vector>
  </TitlesOfParts>
  <Company>KUL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 1</dc:title>
  <dc:creator>standaard</dc:creator>
  <cp:lastModifiedBy>Johan Nuyts</cp:lastModifiedBy>
  <cp:revision>89</cp:revision>
  <dcterms:created xsi:type="dcterms:W3CDTF">2009-09-09T12:26:47Z</dcterms:created>
  <dcterms:modified xsi:type="dcterms:W3CDTF">2010-10-25T17:38:11Z</dcterms:modified>
</cp:coreProperties>
</file>